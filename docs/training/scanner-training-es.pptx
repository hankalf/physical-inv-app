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1a8b7333-0cb7-0eb7-48de-fa5fba4dc579}">
          <p14:sldIdLst>
            <p14:sldId id="256"/>
          </p14:sldIdLst>
        </p14:section>
        <p14:section name="Parte 1 · Antes de empezar" id="{f8f76691-a0f2-23f8-020a-bc4349cef3b2}">
          <p14:sldIdLst>
            <p14:sldId id="257"/>
            <p14:sldId id="258"/>
            <p14:sldId id="259"/>
          </p14:sldIdLst>
        </p14:section>
        <p14:section name="Parte 2 · Iniciar sesión" id="{412f4fe9-cd6c-95f3-6469-55c29a29f9a9}">
          <p14:sldIdLst>
            <p14:sldId id="260"/>
            <p14:sldId id="261"/>
            <p14:sldId id="262"/>
          </p14:sldIdLst>
        </p14:section>
        <p14:section name="Parte 3 · Contar una tarima" id="{d9a07d5e-549a-8845-5e2f-66ef8cffba0a}">
          <p14:sldIdLst>
            <p14:sldId id="263"/>
            <p14:sldId id="264"/>
            <p14:sldId id="265"/>
            <p14:sldId id="266"/>
            <p14:sldId id="267"/>
            <p14:sldId id="268"/>
            <p14:sldId id="269"/>
          </p14:sldIdLst>
        </p14:section>
        <p14:section name="Parte 4 · Cuando la ubicación es diferente" id="{ab6fb002-079b-31cc-aabe-e33a67147c9d}">
          <p14:sldIdLst>
            <p14:sldId id="270"/>
            <p14:sldId id="271"/>
            <p14:sldId id="272"/>
          </p14:sldIdLst>
        </p14:section>
        <p14:section name="Parte 5 · Etiquetas" id="{e4acf59c-03c7-5770-e1eb-8e1adcb9fcc3}">
          <p14:sldIdLst>
            <p14:sldId id="273"/>
            <p14:sldId id="274"/>
            <p14:sldId id="275"/>
            <p14:sldId id="276"/>
            <p14:sldId id="277"/>
          </p14:sldIdLst>
        </p14:section>
        <p14:section name="Parte 6 · Ayuda y correcciones" id="{df8c8333-78f6-fa57-329e-f9abb31ff608}">
          <p14:sldIdLst>
            <p14:sldId id="278"/>
            <p14:sldId id="279"/>
            <p14:sldId id="280"/>
            <p14:sldId id="281"/>
            <p14:sldId id="282"/>
            <p14:sldId id="283"/>
          </p14:sldIdLst>
        </p14:section>
        <p14:section name="Parte 7 · Segundos conteos, y terminar" id="{f746af9c-d054-f02c-7650-ee7265a09a27}">
          <p14:sldIdLst>
            <p14:sldId id="284"/>
            <p14:sldId id="285"/>
            <p14:sldId id="286"/>
          </p14:sldIdLst>
        </p14:section>
        <p14:section name="Las reglas" id="{b9ee12b3-b810-4769-444c-4615ab9d5a19}">
          <p14:sldIdLst>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Hoy aprenden el escáner. El trabajo son tres pasos, una y otra vez: escanear la etiqueta del rack, escanear la etiqueta de la tarima, escribir cuántas cajas hay de verdad. Todo lo demás es el escáner ayudándote cuando algo es diferente. El video muestra los mismos pasos despacio; estas láminas son la misma lección para conservar.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escáner, sus botones y tu idioma.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 escáner. Señala el gatillo, las teclas y la pantalla. La pantalla en el centro de cada lámina es la app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Toca Español una vez; toca English para regresar. Nada más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tarjeta de equipo, tus gafetes y tu pasillo.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equipo tiene una tarjeta impresa con un código QR. Escanéala donde dice Número de equipo. Luego cada persona escanea su propio gafete. Toca un número en la pantalla para quitarlo si está mal. Luego Entrar.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pasillo lo escoge la oficina. Tú nunca eliges uno. Si la pantalla dice que otro equipo sigue en el pasillo, espera: empieza solo cuando el rack esté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pasos, una y otra vez: el rack, la tarima, la cantidad.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 el cuadro Siguiente ubicación. Explica el código: F01 es el pasillo, A el nivel, 001 la 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una etiqueta de rack. Está en la viga debajo de la tarima. Escanea la del lugar que estás contando, no la de al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una etiqueta real de tarima. El código de barras es lo que lee el escáner. El escáner dice Tarima F01-001 y nada de lo que lleva: es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paso que importa. Si la tarima dice 48 y cuentas 45, escribe 45. La oficina resuelve el 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las tarimas no necesitan comentario. No te detengas a escribir notas; toca una razón solo cuando algo está mal con la tarima.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pasa nada malo por un escaneo equivocado. Lee el mensaje y escanea la etiqueta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Varias tarimas en un lugar, y un lugar vacío.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lugar con tres tarimas es normal en el congelador. El cuadro naranja te mantiene ahí hasta contar cada tarima.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lugar vacío que no se registra parece un lugar al que nadie llegó. Regístralo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etiquetas en una tarima, una etiqueta que no escanea, y una tarima que nadie esperaba.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tarimas llevan dos cargas, cada una con su etiqueta. Cada etiqueta lleva su propia cantidad. El rack se escanea una vez, antes del botón.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escáner conserva el mismo lugar, así que no escaneas el rack otra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no se puede leer nada en la etiqueta, toca No se puede leer nada: la tarima se cuenta igual, en su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mercancía encontrada no se pierde: la oficina la ve y la agrega al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Errores, mensajes, sin Wi-Fi, problemas y el botón 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Anula solo tu propia línea equivocada. La oficina guarda el registro de que se anuló.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mensaje rojo es urgente. Nada se bloquea: puedes seguir escaneando debajo.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junto a SIN SEÑAL es cuántas líneas esperan. Se mandan solas.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 Reportar un problema para cosas que se arreglan después. Usa SOS para ayuda 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Úsalo para emergencias de verdad. La oficina recibe una alerta fuerte.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 contar un lugar, entregar el pasillo y salir.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segundo conteo también es a ciegas. Cuenta lo que 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siguiente equipo entra con su tarjeta y gafetes.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cinco reglas en voz alta. Luego reparte los escáneres y empieza la práctica en la mesa.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Imprime esta lámina para el comedor.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y luego la práctica en la mesa con el libro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
    <p:bg>
      <p:bgPr>
        <a:solidFill>
          <a:srgbClr val="18293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rtlCol="0"/>
          <a:lstStyle>
            <a:lvl1pPr indent="0" marL="0">
              <a:buNone/>
              <a:defRPr lang="en-US" sz="1800" b="1" spc="400" kern="0"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01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Full Harvest Inventory · Día 1 · equipo de conteo</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Día 1 · Equipo de conteo</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Cómo contar con el escáner</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Escanea el rack. Escanea la tarima. Escribe lo que hay.</a:t>
            </a:r>
            <a:endParaRPr lang="en-US" sz="2400" dirty="0"/>
          </a:p>
          <a:p>
            <a:pPr indent="0" marL="0">
              <a:buNone/>
            </a:pPr>
            <a:r>
              <a:rPr lang="en-US" sz="2400" dirty="0">
                <a:solidFill>
                  <a:schemeClr val="bg2"/>
                </a:solidFill>
              </a:rPr>
              <a:t>Ese es todo el trabajo — estas láminas muestran cada paso.</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1</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Antes de empezar</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El escáner, sus botones y tu idioma.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1 · Antes de empezar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Este es tu escáner</a:t>
            </a:r>
            <a:endParaRPr lang="en-US" sz="3200" dirty="0"/>
          </a:p>
        </p:txBody>
      </p:sp>
      <p:pic>
        <p:nvPicPr>
          <p:cNvPr id="4" name="screen signon" descr="/home/user/physical-inv-app/docs/training/shots/es/01-sign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El gatillo</a:t>
            </a:r>
            <a:pPr algn="l" marL="228600" indent="-228600">
              <a:spcAft>
                <a:spcPts val="1000"/>
              </a:spcAft>
              <a:buSzPct val="100000"/>
              <a:buChar char="•"/>
            </a:pPr>
            <a:r>
              <a:rPr lang="en-US" sz="2200" dirty="0">
                <a:solidFill>
                  <a:schemeClr val="bg2"/>
                </a:solidFill>
              </a:rPr>
              <a:t> lee un código de barras. Espera el bip.</a:t>
            </a:r>
            <a:endParaRPr lang="en-US" sz="2200" dirty="0"/>
          </a:p>
          <a:p>
            <a:pPr algn="l" marL="228600" indent="-228600">
              <a:spcAft>
                <a:spcPts val="1000"/>
              </a:spcAft>
              <a:buSzPct val="100000"/>
              <a:buChar char="•"/>
            </a:pPr>
            <a:r>
              <a:rPr lang="en-US" sz="2200" b="1" dirty="0">
                <a:solidFill>
                  <a:schemeClr val="bg2"/>
                </a:solidFill>
              </a:rPr>
              <a:t>Las teclas</a:t>
            </a:r>
            <a:pPr algn="l" marL="228600" indent="-228600">
              <a:spcAft>
                <a:spcPts val="1000"/>
              </a:spcAft>
              <a:buSzPct val="100000"/>
              <a:buChar char="•"/>
            </a:pPr>
            <a:r>
              <a:rPr lang="en-US" sz="2200" dirty="0">
                <a:solidFill>
                  <a:schemeClr val="bg2"/>
                </a:solidFill>
              </a:rPr>
              <a:t> escriben una cantidad, luego Enter.</a:t>
            </a:r>
            <a:endParaRPr lang="en-US" sz="2200" dirty="0"/>
          </a:p>
          <a:p>
            <a:pPr algn="l" marL="228600" indent="-228600">
              <a:spcAft>
                <a:spcPts val="1000"/>
              </a:spcAft>
              <a:buSzPct val="100000"/>
              <a:buChar char="•"/>
            </a:pPr>
            <a:r>
              <a:rPr lang="en-US" sz="2200" b="1" dirty="0">
                <a:solidFill>
                  <a:schemeClr val="bg2"/>
                </a:solidFill>
              </a:rPr>
              <a:t>La pantalla</a:t>
            </a:r>
            <a:pPr algn="l" marL="228600" indent="-228600">
              <a:spcAft>
                <a:spcPts val="1000"/>
              </a:spcAft>
              <a:buSzPct val="100000"/>
              <a:buChar char="•"/>
            </a:pPr>
            <a:r>
              <a:rPr lang="en-US" sz="2200" dirty="0">
                <a:solidFill>
                  <a:schemeClr val="bg2"/>
                </a:solidFill>
              </a:rPr>
              <a:t> pide una cosa a la vez, con letras grandes. Lee arriba y haz lo que dice.</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Rack · Tarima · Cantidad — una y otra vez</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1 · Antes de empezar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Inglés o español</a:t>
            </a:r>
            <a:endParaRPr lang="en-US" sz="3200" dirty="0"/>
          </a:p>
        </p:txBody>
      </p:sp>
      <p:pic>
        <p:nvPicPr>
          <p:cNvPr id="4" name="screen signon-es" descr="/home/user/physical-inv-app/docs/training/shots/es/02-signon-es.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botón </a:t>
            </a:r>
            <a:pPr algn="l" marL="228600" indent="-228600">
              <a:spcAft>
                <a:spcPts val="1000"/>
              </a:spcAft>
              <a:buSzPct val="100000"/>
              <a:buChar char="•"/>
            </a:pPr>
            <a:r>
              <a:rPr lang="en-US" sz="2200" b="1" dirty="0">
                <a:solidFill>
                  <a:schemeClr val="bg2"/>
                </a:solidFill>
              </a:rPr>
              <a:t>Español</a:t>
            </a:r>
            <a:pPr algn="l" marL="228600" indent="-228600">
              <a:spcAft>
                <a:spcPts val="1000"/>
              </a:spcAft>
              <a:buSzPct val="100000"/>
              <a:buChar char="•"/>
            </a:pPr>
            <a:r>
              <a:rPr lang="en-US" sz="2200" dirty="0">
                <a:solidFill>
                  <a:schemeClr val="bg2"/>
                </a:solidFill>
              </a:rPr>
              <a:t> arriba a la derecha cambia toda la pantalla a español.</a:t>
            </a:r>
            <a:endParaRPr lang="en-US" sz="2200" dirty="0"/>
          </a:p>
          <a:p>
            <a:pPr algn="l" marL="228600" indent="-228600">
              <a:spcAft>
                <a:spcPts val="1000"/>
              </a:spcAft>
              <a:buSzPct val="100000"/>
              <a:buChar char="•"/>
            </a:pPr>
            <a:r>
              <a:rPr lang="en-US" sz="2200" dirty="0">
                <a:solidFill>
                  <a:schemeClr val="bg2"/>
                </a:solidFill>
              </a:rPr>
              <a:t>Se queda así en este escáner hasta que alguien lo cambie otra vez.</a:t>
            </a:r>
            <a:endParaRPr lang="en-US" sz="2200" dirty="0"/>
          </a:p>
          <a:p>
            <a:pPr algn="l" marL="228600" indent="-228600">
              <a:spcAft>
                <a:spcPts val="1000"/>
              </a:spcAft>
              <a:buSzPct val="100000"/>
              <a:buChar char="•"/>
            </a:pPr>
            <a:r>
              <a:rPr lang="en-US" sz="2200" dirty="0">
                <a:solidFill>
                  <a:schemeClr val="bg2"/>
                </a:solidFill>
              </a:rPr>
              <a:t>La oficina siempre lee en inglés, uses el que uses.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2</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Iniciar sesión</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Tu tarjeta de equipo, tus gafetes y tu pasillo.</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2 · Iniciar sesión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La tarjeta del equipo, luego cada gafete</a:t>
            </a:r>
            <a:endParaRPr lang="en-US" sz="3200" dirty="0"/>
          </a:p>
        </p:txBody>
      </p:sp>
      <p:pic>
        <p:nvPicPr>
          <p:cNvPr id="4" name="screen signon-filled" descr="/home/user/physical-inv-app/docs/training/shots/es/03-signon-fill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b="1" dirty="0">
                <a:solidFill>
                  <a:schemeClr val="bg2"/>
                </a:solidFill>
              </a:rPr>
              <a:t>1 · </a:t>
            </a:r>
            <a:pPr algn="l" marL="228600" indent="-228600">
              <a:spcAft>
                <a:spcPts val="1000"/>
              </a:spcAft>
              <a:buSzPct val="100000"/>
              <a:buChar char="•"/>
            </a:pPr>
            <a:r>
              <a:rPr lang="en-US" sz="2200" dirty="0">
                <a:solidFill>
                  <a:schemeClr val="bg2"/>
                </a:solidFill>
              </a:rPr>
              <a:t>Escanea la tarjeta QR del equipo en </a:t>
            </a:r>
            <a:pPr algn="l" marL="228600" indent="-228600">
              <a:spcAft>
                <a:spcPts val="1000"/>
              </a:spcAft>
              <a:buSzPct val="100000"/>
              <a:buChar char="•"/>
            </a:pPr>
            <a:r>
              <a:rPr lang="en-US" sz="2200" b="1" dirty="0">
                <a:solidFill>
                  <a:schemeClr val="bg2"/>
                </a:solidFill>
              </a:rPr>
              <a:t>Número de equipo</a:t>
            </a:r>
            <a:pPr algn="l" marL="228600" indent="-228600">
              <a:spcAft>
                <a:spcPts val="1000"/>
              </a:spcAft>
              <a:buSzPct val="100000"/>
              <a:buChar char="•"/>
            </a:pPr>
            <a:r>
              <a:rPr lang="en-US" sz="2200" dirty="0">
                <a:solidFill>
                  <a:schemeClr val="bg2"/>
                </a:solidFill>
              </a:rPr>
              <a:t>. Sin escribir.</a:t>
            </a:r>
            <a:endParaRPr lang="en-US" sz="2200" dirty="0"/>
          </a:p>
          <a:p>
            <a:pPr algn="l" marL="228600" indent="-228600">
              <a:spcAft>
                <a:spcPts val="1000"/>
              </a:spcAft>
              <a:buSzPct val="100000"/>
              <a:buChar char="•"/>
            </a:pPr>
            <a:r>
              <a:rPr lang="en-US" sz="2200" b="1" dirty="0">
                <a:solidFill>
                  <a:schemeClr val="bg2"/>
                </a:solidFill>
              </a:rPr>
              <a:t>2 · </a:t>
            </a:r>
            <a:pPr algn="l" marL="228600" indent="-228600">
              <a:spcAft>
                <a:spcPts val="1000"/>
              </a:spcAft>
              <a:buSzPct val="100000"/>
              <a:buChar char="•"/>
            </a:pPr>
            <a:r>
              <a:rPr lang="en-US" sz="2200" dirty="0">
                <a:solidFill>
                  <a:schemeClr val="bg2"/>
                </a:solidFill>
              </a:rPr>
              <a:t>Cada persona del equipo escanea su </a:t>
            </a:r>
            <a:pPr algn="l" marL="228600" indent="-228600">
              <a:spcAft>
                <a:spcPts val="1000"/>
              </a:spcAft>
              <a:buSzPct val="100000"/>
              <a:buChar char="•"/>
            </a:pPr>
            <a:r>
              <a:rPr lang="en-US" sz="2200" b="1" dirty="0">
                <a:solidFill>
                  <a:schemeClr val="bg2"/>
                </a:solidFill>
              </a:rPr>
              <a:t>gafete</a:t>
            </a:r>
            <a:pPr algn="l" marL="228600" indent="-228600">
              <a:spcAft>
                <a:spcPts val="1000"/>
              </a:spcAft>
              <a:buSzPct val="100000"/>
              <a:buChar char="•"/>
            </a:pPr>
            <a:r>
              <a:rPr lang="en-US" sz="2200" dirty="0">
                <a:solidFill>
                  <a:schemeClr val="bg2"/>
                </a:solidFill>
              </a:rPr>
              <a:t>. Cada nombre aparece en la pantalla.</a:t>
            </a:r>
            <a:endParaRPr lang="en-US" sz="2200" dirty="0"/>
          </a:p>
          <a:p>
            <a:pPr algn="l" marL="228600" indent="-228600">
              <a:spcAft>
                <a:spcPts val="1000"/>
              </a:spcAft>
              <a:buSzPct val="100000"/>
              <a:buChar char="•"/>
            </a:pPr>
            <a:r>
              <a:rPr lang="en-US" sz="2200" b="1" dirty="0">
                <a:solidFill>
                  <a:schemeClr val="bg2"/>
                </a:solidFill>
              </a:rPr>
              <a:t>3 · </a:t>
            </a:r>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Entrar y cargar la lista</a:t>
            </a:r>
            <a:pPr algn="l" marL="228600" indent="-228600">
              <a:spcAft>
                <a:spcPts val="1000"/>
              </a:spcAft>
              <a:buSzPct val="100000"/>
              <a:buChar char="•"/>
            </a:pPr>
            <a:r>
              <a:rPr lang="en-US" sz="2200" dirty="0">
                <a:solidFill>
                  <a:schemeClr val="bg2"/>
                </a:solidFill>
              </a:rPr>
              <a:t>. El escáner descarga el conteo y sigue trabajando sin Wi-Fi.</a:t>
            </a:r>
            <a:endParaRPr lang="en-US" sz="2200" dirty="0"/>
          </a:p>
        </p:txBody>
      </p:sp>
      <p:pic>
        <p:nvPicPr>
          <p:cNvPr id="6" name="label-team" descr="/home/user/physical-inv-app/docs/training/shots/es/label-team.png">    </p:cNvPr>
          <p:cNvPicPr>
            <a:picLocks noChangeAspect="1"/>
          </p:cNvPicPr>
          <p:nvPr/>
        </p:nvPicPr>
        <p:blipFill>
          <a:blip r:embed="rId2"/>
          <a:stretch>
            <a:fillRect/>
          </a:stretch>
        </p:blipFill>
        <p:spPr>
          <a:xfrm>
            <a:off x="548640" y="4526280"/>
            <a:ext cx="1463040" cy="1691640"/>
          </a:xfrm>
          <a:prstGeom prst="rect">
            <a:avLst/>
          </a:prstGeom>
        </p:spPr>
      </p:pic>
      <p:pic>
        <p:nvPicPr>
          <p:cNvPr id="7" name="label-badge" descr="/home/user/physical-inv-app/docs/training/shots/es/label-badge.png">    </p:cNvPr>
          <p:cNvPicPr>
            <a:picLocks noChangeAspect="1"/>
          </p:cNvPicPr>
          <p:nvPr/>
        </p:nvPicPr>
        <p:blipFill>
          <a:blip r:embed="rId3"/>
          <a:stretch>
            <a:fillRect/>
          </a:stretch>
        </p:blipFill>
        <p:spPr>
          <a:xfrm>
            <a:off x="2286000" y="4526280"/>
            <a:ext cx="1463040" cy="13716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2 · Iniciar sesión</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Tu pasillo</a:t>
            </a:r>
            <a:endParaRPr lang="en-US" sz="3200" dirty="0"/>
          </a:p>
        </p:txBody>
      </p:sp>
      <p:pic>
        <p:nvPicPr>
          <p:cNvPr id="4" name="screen your-aisle" descr="/home/user/physical-inv-app/docs/training/shots/es/04-your-aisl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escáner le da a tu equipo su pasillo y los niveles que cuentan.</a:t>
            </a:r>
            <a:endParaRPr lang="en-US" sz="2200" dirty="0"/>
          </a:p>
          <a:p>
            <a:pPr algn="l" marL="228600" indent="-228600">
              <a:spcAft>
                <a:spcPts val="1000"/>
              </a:spcAft>
              <a:buSzPct val="100000"/>
              <a:buChar char="•"/>
            </a:pPr>
            <a:r>
              <a:rPr lang="en-US" sz="2200" dirty="0">
                <a:solidFill>
                  <a:schemeClr val="bg2"/>
                </a:solidFill>
              </a:rPr>
              <a:t>Solo tu equipo trabaja este pasillo ahora.</a:t>
            </a:r>
            <a:endParaRPr lang="en-US" sz="2200" dirty="0"/>
          </a:p>
          <a:p>
            <a:pPr algn="l" marL="228600" indent="-228600">
              <a:spcAft>
                <a:spcPts val="1000"/>
              </a:spcAft>
              <a:buSzPct val="100000"/>
              <a:buChar char="•"/>
            </a:pPr>
            <a:r>
              <a:rPr lang="en-US" sz="2200" dirty="0">
                <a:solidFill>
                  <a:schemeClr val="bg2"/>
                </a:solidFill>
              </a:rPr>
              <a:t>Cuando estén en el pasillo, toquen </a:t>
            </a:r>
            <a:pPr algn="l" marL="228600" indent="-228600">
              <a:spcAft>
                <a:spcPts val="1000"/>
              </a:spcAft>
              <a:buSzPct val="100000"/>
              <a:buChar char="•"/>
            </a:pPr>
            <a:r>
              <a:rPr lang="en-US" sz="2200" b="1" dirty="0">
                <a:solidFill>
                  <a:schemeClr val="bg2"/>
                </a:solidFill>
              </a:rPr>
              <a:t>Empezar a contar</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Pasillo F01 · niveles A–C</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3</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Contar una tarima</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Tres pasos, una y otra vez: el rack, la tarima, la cantidad.</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 dónde ir</a:t>
            </a:r>
            <a:endParaRPr lang="en-US" sz="3200" dirty="0"/>
          </a:p>
        </p:txBody>
      </p:sp>
      <p:pic>
        <p:nvPicPr>
          <p:cNvPr id="4" name="screen next-bin" descr="/home/user/physical-inv-app/docs/training/shots/es/05-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cuadro de arriba dice </a:t>
            </a:r>
            <a:pPr algn="l" marL="228600" indent="-228600">
              <a:spcAft>
                <a:spcPts val="1000"/>
              </a:spcAft>
              <a:buSzPct val="100000"/>
              <a:buChar char="•"/>
            </a:pPr>
            <a:r>
              <a:rPr lang="en-US" sz="2200" b="1" dirty="0">
                <a:solidFill>
                  <a:schemeClr val="bg2"/>
                </a:solidFill>
              </a:rPr>
              <a:t>Siguiente ubicación</a:t>
            </a:r>
            <a:pPr algn="l" marL="228600" indent="-228600">
              <a:spcAft>
                <a:spcPts val="1000"/>
              </a:spcAft>
              <a:buSzPct val="100000"/>
              <a:buChar char="•"/>
            </a:pPr>
            <a:r>
              <a:rPr lang="en-US" sz="2200" dirty="0">
                <a:solidFill>
                  <a:schemeClr val="bg2"/>
                </a:solidFill>
              </a:rPr>
              <a:t> — el lugar a donde ir.</a:t>
            </a:r>
            <a:endParaRPr lang="en-US" sz="2200" dirty="0"/>
          </a:p>
          <a:p>
            <a:pPr algn="l" marL="228600" indent="-228600">
              <a:spcAft>
                <a:spcPts val="1000"/>
              </a:spcAft>
              <a:buSzPct val="100000"/>
              <a:buChar char="•"/>
            </a:pPr>
            <a:r>
              <a:rPr lang="en-US" sz="2200" dirty="0">
                <a:solidFill>
                  <a:schemeClr val="bg2"/>
                </a:solidFill>
              </a:rPr>
              <a:t>Te lleva por el pasillo en orden, para que no se pierda nada.</a:t>
            </a:r>
            <a:endParaRPr lang="en-US" sz="2200" dirty="0"/>
          </a:p>
          <a:p>
            <a:pPr algn="l" marL="228600" indent="-228600">
              <a:spcAft>
                <a:spcPts val="1000"/>
              </a:spcAft>
              <a:buSzPct val="100000"/>
              <a:buChar char="•"/>
            </a:pPr>
            <a:r>
              <a:rPr lang="en-US" sz="2200" dirty="0">
                <a:solidFill>
                  <a:schemeClr val="bg2"/>
                </a:solidFill>
              </a:rPr>
              <a:t>Síguelo. No brinques de un lado a otro del pasillo.</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1</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1 · Escanea la etiqueta del rack</a:t>
            </a:r>
            <a:endParaRPr lang="en-US" sz="3200" dirty="0"/>
          </a:p>
        </p:txBody>
      </p:sp>
      <p:pic>
        <p:nvPicPr>
          <p:cNvPr id="4" name="screen rack-scanned" descr="/home/user/physical-inv-app/docs/training/shots/es/06-rack-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Apunta el escáner a la etiqueta amarilla del rack debajo de la tarima. Aprieta el gatillo. Espera el bip.</a:t>
            </a:r>
            <a:endParaRPr lang="en-US" sz="2200" dirty="0"/>
          </a:p>
          <a:p>
            <a:pPr algn="l" marL="228600" indent="-228600">
              <a:spcAft>
                <a:spcPts val="1000"/>
              </a:spcAft>
              <a:buSzPct val="100000"/>
              <a:buChar char="•"/>
            </a:pPr>
            <a:r>
              <a:rPr lang="en-US" sz="2200" dirty="0">
                <a:solidFill>
                  <a:schemeClr val="bg2"/>
                </a:solidFill>
              </a:rPr>
              <a:t>Así el sistema sabe dónde estás. El escáner revisa que sea de tu pasillo y tus niveles.</a:t>
            </a:r>
            <a:endParaRPr lang="en-US" sz="2200" dirty="0"/>
          </a:p>
        </p:txBody>
      </p:sp>
      <p:pic>
        <p:nvPicPr>
          <p:cNvPr id="6" name="label-rack" descr="/home/user/physical-inv-app/docs/training/shots/es/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2</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2 · Escanea la etiqueta de la tarima</a:t>
            </a:r>
            <a:endParaRPr lang="en-US" sz="3200" dirty="0"/>
          </a:p>
        </p:txBody>
      </p:sp>
      <p:pic>
        <p:nvPicPr>
          <p:cNvPr id="4" name="screen pallet-scanned" descr="/home/user/physical-inv-app/docs/training/shots/es/07-pallet-scanned.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Ahora el código de barras de la etiqueta de la tarima. Espera el bip.</a:t>
            </a:r>
            <a:endParaRPr lang="en-US" sz="2200" dirty="0"/>
          </a:p>
          <a:p>
            <a:pPr algn="l" marL="228600" indent="-228600">
              <a:spcAft>
                <a:spcPts val="1000"/>
              </a:spcAft>
              <a:buSzPct val="100000"/>
              <a:buChar char="•"/>
            </a:pPr>
            <a:r>
              <a:rPr lang="en-US" sz="2200" dirty="0">
                <a:solidFill>
                  <a:schemeClr val="bg2"/>
                </a:solidFill>
              </a:rPr>
              <a:t>El escáner muestra el número de tarima.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 te dice cuántas cajas debería haber.</a:t>
            </a:r>
            <a:endParaRPr lang="en-US" sz="2200" dirty="0"/>
          </a:p>
        </p:txBody>
      </p:sp>
      <p:pic>
        <p:nvPicPr>
          <p:cNvPr id="6" name="label-pallet" descr="/home/user/physical-inv-app/docs/training/shots/es/label-pallet.png">    </p:cNvPr>
          <p:cNvPicPr>
            <a:picLocks noChangeAspect="1"/>
          </p:cNvPicPr>
          <p:nvPr/>
        </p:nvPicPr>
        <p:blipFill>
          <a:blip r:embed="rId2"/>
          <a:stretch>
            <a:fillRect/>
          </a:stretch>
        </p:blipFill>
        <p:spPr>
          <a:xfrm>
            <a:off x="548640" y="4526280"/>
            <a:ext cx="2834640" cy="1188720"/>
          </a:xfrm>
          <a:prstGeom prst="rect">
            <a:avLst/>
          </a:prstGeom>
        </p:spPr>
      </p:pic>
      <p:sp>
        <p:nvSpPr>
          <p:cNvPr id="7"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Un conteo a ciegas: cuentas lo que tienes enfrente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3</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3 · Cuenta y escribe la cantidad</a:t>
            </a:r>
            <a:endParaRPr lang="en-US" sz="3200" dirty="0"/>
          </a:p>
        </p:txBody>
      </p:sp>
      <p:pic>
        <p:nvPicPr>
          <p:cNvPr id="4" name="screen quantity" descr="/home/user/physical-inv-app/docs/training/shots/es/08-quantit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Cuenta las cajas que </a:t>
            </a:r>
            <a:pPr algn="l" marL="228600" indent="-228600">
              <a:spcAft>
                <a:spcPts val="1000"/>
              </a:spcAft>
              <a:buSzPct val="100000"/>
              <a:buChar char="•"/>
            </a:pPr>
            <a:r>
              <a:rPr lang="en-US" sz="2200" b="1" dirty="0">
                <a:solidFill>
                  <a:schemeClr val="bg2"/>
                </a:solidFill>
              </a:rPr>
              <a:t>de verdad están ahí</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Escribe el número con las teclas y oprime Enter.</a:t>
            </a:r>
            <a:endParaRPr lang="en-US" sz="2200" dirty="0"/>
          </a:p>
          <a:p>
            <a:pPr algn="l" marL="228600" indent="-228600">
              <a:spcAft>
                <a:spcPts val="1000"/>
              </a:spcAft>
              <a:buSzPct val="100000"/>
              <a:buChar char="•"/>
            </a:pPr>
            <a:r>
              <a:rPr lang="en-US" sz="2200" b="1" dirty="0">
                <a:solidFill>
                  <a:schemeClr val="bg2"/>
                </a:solidFill>
              </a:rPr>
              <a:t>Nunca</a:t>
            </a:r>
            <a:pPr algn="l" marL="228600" indent="-228600">
              <a:spcAft>
                <a:spcPts val="1000"/>
              </a:spcAft>
              <a:buSzPct val="100000"/>
              <a:buChar char="•"/>
            </a:pPr>
            <a:r>
              <a:rPr lang="en-US" sz="2200" dirty="0">
                <a:solidFill>
                  <a:schemeClr val="bg2"/>
                </a:solidFill>
              </a:rPr>
              <a:t> escribas lo que crees que debería ser. Un número grande puede pedirse dos veces.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 · Paso 4</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4 · Un comentario, si hay</a:t>
            </a:r>
            <a:endParaRPr lang="en-US" sz="3200" dirty="0"/>
          </a:p>
        </p:txBody>
      </p:sp>
      <p:pic>
        <p:nvPicPr>
          <p:cNvPr id="4" name="screen comments" descr="/home/user/physical-inv-app/docs/training/shots/es/09-comments.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El escáner ofrece razones rápidas — dañada, incompleta, etc. Toca una si aplica.</a:t>
            </a:r>
            <a:endParaRPr lang="en-US" sz="2200" dirty="0"/>
          </a:p>
          <a:p>
            <a:pPr algn="l" marL="228600" indent="-228600">
              <a:spcAft>
                <a:spcPts val="1000"/>
              </a:spcAft>
              <a:buSzPct val="100000"/>
              <a:buChar char="•"/>
            </a:pPr>
            <a:r>
              <a:rPr lang="en-US" sz="2200" dirty="0">
                <a:solidFill>
                  <a:schemeClr val="bg2"/>
                </a:solidFill>
              </a:rPr>
              <a:t>¿Nada que decir? Toca </a:t>
            </a:r>
            <a:pPr algn="l" marL="228600" indent="-228600">
              <a:spcAft>
                <a:spcPts val="1000"/>
              </a:spcAft>
              <a:buSzPct val="100000"/>
              <a:buChar char="•"/>
            </a:pPr>
            <a:r>
              <a:rPr lang="en-US" sz="2200" b="1" dirty="0">
                <a:solidFill>
                  <a:schemeClr val="bg2"/>
                </a:solidFill>
              </a:rPr>
              <a:t>Saltar</a:t>
            </a:r>
            <a:pPr algn="l" marL="228600" indent="-228600">
              <a:spcAft>
                <a:spcPts val="1000"/>
              </a:spcAft>
              <a:buSzPct val="100000"/>
              <a:buChar char="•"/>
            </a:pPr>
            <a:r>
              <a:rPr lang="en-US" sz="2200" dirty="0">
                <a:solidFill>
                  <a:schemeClr val="bg2"/>
                </a:solidFill>
              </a:rPr>
              <a:t>. El día del conteo también sigue solo.</a:t>
            </a:r>
            <a:endParaRPr lang="en-US" sz="2200" dirty="0"/>
          </a:p>
          <a:p>
            <a:pPr algn="l" marL="228600" indent="-228600">
              <a:spcAft>
                <a:spcPts val="1000"/>
              </a:spcAft>
              <a:buSzPct val="100000"/>
              <a:buChar char="•"/>
            </a:pPr>
            <a:r>
              <a:rPr lang="en-US" sz="2200" dirty="0">
                <a:solidFill>
                  <a:schemeClr val="bg2"/>
                </a:solidFill>
              </a:rPr>
              <a:t>La tarima queda guardada. El escáner la manda a la oficina solo.</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Guardado — ahora la siguiente tarima, los mismos tres pasos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3 · Contar una tarima</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¿Etiqueta equivocada? Te avisa</a:t>
            </a:r>
            <a:endParaRPr lang="en-US" sz="3200" dirty="0"/>
          </a:p>
        </p:txBody>
      </p:sp>
      <p:pic>
        <p:nvPicPr>
          <p:cNvPr id="4" name="screen wrong-label" descr="/home/user/physical-inv-app/docs/training/shots/es/10-wrong-label.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Si escaneas la etiqueta de la tarima cuando pide el rack, el escáner te avisa y no guarda nada.</a:t>
            </a:r>
            <a:endParaRPr lang="en-US" sz="2200" dirty="0"/>
          </a:p>
          <a:p>
            <a:pPr algn="l" marL="228600" indent="-228600">
              <a:spcAft>
                <a:spcPts val="1000"/>
              </a:spcAft>
              <a:buSzPct val="100000"/>
              <a:buChar char="•"/>
            </a:pPr>
            <a:r>
              <a:rPr lang="en-US" sz="2200" dirty="0">
                <a:solidFill>
                  <a:schemeClr val="bg2"/>
                </a:solidFill>
              </a:rPr>
              <a:t>Solo escanea la correcta.</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4</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Cuando la ubicación es diferente</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Varias tarimas en un lugar, y un lugar vacío.</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4 · Cuando la ubicación es diferente</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Más de una tarima en un lugar</a:t>
            </a:r>
            <a:endParaRPr lang="en-US" sz="3200" dirty="0"/>
          </a:p>
        </p:txBody>
      </p:sp>
      <p:pic>
        <p:nvPicPr>
          <p:cNvPr id="4" name="screen still-in-bin" descr="/home/user/physical-inv-app/docs/training/shots/es/11-still-in-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Después de la primera tarima el cuadro se pone naranja: </a:t>
            </a:r>
            <a:pPr algn="l" marL="228600" indent="-228600">
              <a:spcAft>
                <a:spcPts val="1000"/>
              </a:spcAft>
              <a:buSzPct val="100000"/>
              <a:buChar char="•"/>
            </a:pPr>
            <a:r>
              <a:rPr lang="en-US" sz="2200" b="1" dirty="0">
                <a:solidFill>
                  <a:schemeClr val="bg2"/>
                </a:solidFill>
              </a:rPr>
              <a:t>Sigues en esta ubicación</a:t>
            </a:r>
            <a:pPr algn="l" marL="228600" indent="-228600">
              <a:spcAft>
                <a:spcPts val="1000"/>
              </a:spcAft>
              <a:buSzPct val="100000"/>
              <a:buChar char="•"/>
            </a:pPr>
            <a:r>
              <a:rPr lang="en-US" sz="2200" dirty="0">
                <a:solidFill>
                  <a:schemeClr val="bg2"/>
                </a:solidFill>
              </a:rPr>
              <a:t>, con un contador — 1 de 3.</a:t>
            </a:r>
            <a:endParaRPr lang="en-US" sz="2200" dirty="0"/>
          </a:p>
          <a:p>
            <a:pPr algn="l" marL="228600" indent="-228600">
              <a:spcAft>
                <a:spcPts val="1000"/>
              </a:spcAft>
              <a:buSzPct val="100000"/>
              <a:buChar char="•"/>
            </a:pPr>
            <a:r>
              <a:rPr lang="en-US" sz="2200" dirty="0">
                <a:solidFill>
                  <a:schemeClr val="bg2"/>
                </a:solidFill>
              </a:rPr>
              <a:t>Cuenta cada tarima del lugar antes de seguir. Los mismos tres pasos para cada una.</a:t>
            </a:r>
            <a:endParaRPr lang="en-US" sz="2200" dirty="0"/>
          </a:p>
          <a:p>
            <a:pPr algn="l" marL="228600" indent="-228600">
              <a:spcAft>
                <a:spcPts val="1000"/>
              </a:spcAft>
              <a:buSzPct val="100000"/>
              <a:buChar char="•"/>
            </a:pPr>
            <a:r>
              <a:rPr lang="en-US" sz="2200" dirty="0">
                <a:solidFill>
                  <a:schemeClr val="bg2"/>
                </a:solidFill>
              </a:rPr>
              <a:t>¿El escáner espera más pero no hay? Toca </a:t>
            </a:r>
            <a:pPr algn="l" marL="228600" indent="-228600">
              <a:spcAft>
                <a:spcPts val="1000"/>
              </a:spcAft>
              <a:buSzPct val="100000"/>
              <a:buChar char="•"/>
            </a:pPr>
            <a:r>
              <a:rPr lang="en-US" sz="2200" b="1" dirty="0">
                <a:solidFill>
                  <a:schemeClr val="bg2"/>
                </a:solidFill>
              </a:rPr>
              <a:t>No hay más aquí →</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Nunca dejes un lugar a medias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4 · Cuando la ubicación es diferente</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 lugar vacío</a:t>
            </a:r>
            <a:endParaRPr lang="en-US" sz="3200" dirty="0"/>
          </a:p>
        </p:txBody>
      </p:sp>
      <p:pic>
        <p:nvPicPr>
          <p:cNvPr id="4" name="screen empty-button" descr="/home/user/physical-inv-app/docs/training/shots/es/12-empty-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265176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¿No hay nada en el lugar? Eso también cuenta. Escanea la etiqueta del rack como siempre.</a:t>
            </a:r>
            <a:endParaRPr lang="en-US" sz="2200" dirty="0"/>
          </a:p>
          <a:p>
            <a:pPr algn="l" marL="228600" indent="-228600">
              <a:spcAft>
                <a:spcPts val="1000"/>
              </a:spcAft>
              <a:buSzPct val="100000"/>
              <a:buChar char="•"/>
            </a:pPr>
            <a:r>
              <a:rPr lang="en-US" sz="2200" dirty="0">
                <a:solidFill>
                  <a:schemeClr val="bg2"/>
                </a:solidFill>
              </a:rPr>
              <a:t>Luego toca </a:t>
            </a:r>
            <a:pPr algn="l" marL="228600" indent="-228600">
              <a:spcAft>
                <a:spcPts val="1000"/>
              </a:spcAft>
              <a:buSzPct val="100000"/>
              <a:buChar char="•"/>
            </a:pPr>
            <a:r>
              <a:rPr lang="en-US" sz="2200" b="1" dirty="0">
                <a:solidFill>
                  <a:schemeClr val="bg2"/>
                </a:solidFill>
              </a:rPr>
              <a:t>Ubicación VACÍA</a:t>
            </a:r>
            <a:pPr algn="l" marL="228600" indent="-228600">
              <a:spcAft>
                <a:spcPts val="1000"/>
              </a:spcAft>
              <a:buSzPct val="100000"/>
              <a:buChar char="•"/>
            </a:pPr>
            <a:r>
              <a:rPr lang="en-US" sz="2200" dirty="0">
                <a:solidFill>
                  <a:schemeClr val="bg2"/>
                </a:solidFill>
              </a:rPr>
              <a:t> y </a:t>
            </a:r>
            <a:pPr algn="l" marL="228600" indent="-228600">
              <a:spcAft>
                <a:spcPts val="1000"/>
              </a:spcAft>
              <a:buSzPct val="100000"/>
              <a:buChar char="•"/>
            </a:pPr>
            <a:r>
              <a:rPr lang="en-US" sz="2200" b="1" dirty="0">
                <a:solidFill>
                  <a:schemeClr val="bg2"/>
                </a:solidFill>
              </a:rPr>
              <a:t>Sí — está vacía</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Así la oficina sabe que se revisó y está vacío.</a:t>
            </a:r>
            <a:endParaRPr lang="en-US" sz="2200" dirty="0"/>
          </a:p>
        </p:txBody>
      </p:sp>
      <p:pic>
        <p:nvPicPr>
          <p:cNvPr id="6" name="label-rack" descr="/home/user/physical-inv-app/docs/training/shots/es/label-rack.png">    </p:cNvPr>
          <p:cNvPicPr>
            <a:picLocks noChangeAspect="1"/>
          </p:cNvPicPr>
          <p:nvPr/>
        </p:nvPicPr>
        <p:blipFill>
          <a:blip r:embed="rId2"/>
          <a:stretch>
            <a:fillRect/>
          </a:stretch>
        </p:blipFill>
        <p:spPr>
          <a:xfrm>
            <a:off x="548640" y="4526280"/>
            <a:ext cx="2834640" cy="12435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5</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Etiquetas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Dos etiquetas en una tarima, una etiqueta que no escanea, y una tarima que nadie esperaba.</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Una tarima con dos etiquetas</a:t>
            </a:r>
            <a:endParaRPr lang="en-US" sz="3200" dirty="0"/>
          </a:p>
        </p:txBody>
      </p:sp>
      <p:pic>
        <p:nvPicPr>
          <p:cNvPr id="4" name="screen multi-label-button" descr="/home/user/physical-inv-app/docs/training/shots/es/13-multi-label-button.png">    </p:cNvPr>
          <p:cNvPicPr>
            <a:picLocks noChangeAspect="1"/>
          </p:cNvPicPr>
          <p:nvPr/>
        </p:nvPicPr>
        <p:blipFill>
          <a:blip r:embed="rId1"/>
          <a:stretch>
            <a:fillRect/>
          </a:stretch>
        </p:blipFill>
        <p:spPr>
          <a:xfrm>
            <a:off x="2506847" y="2743200"/>
            <a:ext cx="2025992" cy="3566160"/>
          </a:xfrm>
          <a:prstGeom prst="rect">
            <a:avLst/>
          </a:prstGeom>
        </p:spPr>
      </p:pic>
      <p:pic>
        <p:nvPicPr>
          <p:cNvPr id="5" name="screen multi-label-2" descr="/home/user/physical-inv-app/docs/training/shots/es/14-multi-label-2.png">    </p:cNvPr>
          <p:cNvPicPr>
            <a:picLocks noChangeAspect="1"/>
          </p:cNvPicPr>
          <p:nvPr/>
        </p:nvPicPr>
        <p:blipFill>
          <a:blip r:embed="rId2"/>
          <a:stretch>
            <a:fillRect/>
          </a:stretch>
        </p:blipFill>
        <p:spPr>
          <a:xfrm>
            <a:off x="5081480" y="2743200"/>
            <a:ext cx="2025992" cy="3566160"/>
          </a:xfrm>
          <a:prstGeom prst="rect">
            <a:avLst/>
          </a:prstGeom>
        </p:spPr>
      </p:pic>
      <p:pic>
        <p:nvPicPr>
          <p:cNvPr id="6" name="screen multi-label-done" descr="/home/user/physical-inv-app/docs/training/shots/es/15-multi-label-done.png">    </p:cNvPr>
          <p:cNvPicPr>
            <a:picLocks noChangeAspect="1"/>
          </p:cNvPicPr>
          <p:nvPr/>
        </p:nvPicPr>
        <p:blipFill>
          <a:blip r:embed="rId3"/>
          <a:stretch>
            <a:fillRect/>
          </a:stretch>
        </p:blipFill>
        <p:spPr>
          <a:xfrm>
            <a:off x="7656112" y="2743200"/>
            <a:ext cx="2025992" cy="3566160"/>
          </a:xfrm>
          <a:prstGeom prst="rect">
            <a:avLst/>
          </a:prstGeom>
        </p:spPr>
      </p:pic>
      <p:sp>
        <p:nvSpPr>
          <p:cNvPr id="7" name="what to do"/>
          <p:cNvSpPr txBox="1"/>
          <p:nvPr/>
        </p:nvSpPr>
        <p:spPr>
          <a:xfrm>
            <a:off x="548640" y="1691640"/>
            <a:ext cx="11064240" cy="1005840"/>
          </a:xfrm>
          <a:prstGeom prst="rect">
            <a:avLst/>
          </a:prstGeom>
          <a:noFill/>
          <a:ln/>
        </p:spPr>
        <p:txBody>
          <a:bodyPr wrap="square" lIns="0" tIns="0" rIns="0" bIns="0" rtlCol="0" anchor="t"/>
          <a:lstStyle/>
          <a:p>
            <a:pPr algn="l" indent="0" marL="0">
              <a:spcAft>
                <a:spcPts val="1000"/>
              </a:spcAft>
              <a:buNone/>
            </a:pPr>
            <a:r>
              <a:rPr lang="en-US" sz="1800" dirty="0">
                <a:solidFill>
                  <a:schemeClr val="bg2"/>
                </a:solidFill>
              </a:rPr>
              <a:t>Escanea el rack como siempre · toca </a:t>
            </a:r>
            <a:pPr algn="l" indent="0" marL="0">
              <a:spcAft>
                <a:spcPts val="1000"/>
              </a:spcAft>
              <a:buNone/>
            </a:pPr>
            <a:r>
              <a:rPr lang="en-US" sz="1800" b="1" dirty="0">
                <a:solidFill>
                  <a:schemeClr val="bg2"/>
                </a:solidFill>
              </a:rPr>
              <a:t>Esta tarima tiene más de una etiqueta</a:t>
            </a:r>
            <a:pPr algn="l" indent="0" marL="0">
              <a:spcAft>
                <a:spcPts val="1000"/>
              </a:spcAft>
              <a:buNone/>
            </a:pPr>
            <a:r>
              <a:rPr lang="en-US" sz="1800" dirty="0">
                <a:solidFill>
                  <a:schemeClr val="bg2"/>
                </a:solidFill>
              </a:rPr>
              <a:t> · etiqueta 1 y sus cajas · etiqueta 2 y sus cajas · </a:t>
            </a:r>
            <a:pPr algn="l" indent="0" marL="0">
              <a:spcAft>
                <a:spcPts val="1000"/>
              </a:spcAft>
              <a:buNone/>
            </a:pPr>
            <a:r>
              <a:rPr lang="en-US" sz="1800" b="1" dirty="0">
                <a:solidFill>
                  <a:schemeClr val="bg2"/>
                </a:solidFill>
              </a:rPr>
              <a:t>Listo</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¿Viste la segunda etiqueta tarde?</a:t>
            </a:r>
            <a:endParaRPr lang="en-US" sz="3200" dirty="0"/>
          </a:p>
        </p:txBody>
      </p:sp>
      <p:pic>
        <p:nvPicPr>
          <p:cNvPr id="4" name="screen same-label-button" descr="/home/user/physical-inv-app/docs/training/shots/es/16-same-label-butto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¿Ya contaste la tarima y luego viste otra etiqueta?</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Otra etiqueta en la tarima recién contada</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Escanéala, escribe sus cajas y luego </a:t>
            </a:r>
            <a:pPr algn="l" marL="228600" indent="-228600">
              <a:spcAft>
                <a:spcPts val="1000"/>
              </a:spcAft>
              <a:buSzPct val="100000"/>
              <a:buChar char="•"/>
            </a:pPr>
            <a:r>
              <a:rPr lang="en-US" sz="2200" b="1" dirty="0">
                <a:solidFill>
                  <a:schemeClr val="bg2"/>
                </a:solidFill>
              </a:rPr>
              <a:t>Listo</a:t>
            </a:r>
            <a:pPr algn="l" marL="228600" indent="-228600">
              <a:spcAft>
                <a:spcPts val="1000"/>
              </a:spcAft>
              <a:buSzPct val="100000"/>
              <a:buChar char="•"/>
            </a:pPr>
            <a:r>
              <a:rPr lang="en-US" sz="2200" dirty="0">
                <a:solidFill>
                  <a:schemeClr val="bg2"/>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Una etiqueta que no escanea</a:t>
            </a:r>
            <a:endParaRPr lang="en-US" sz="3200" dirty="0"/>
          </a:p>
        </p:txBody>
      </p:sp>
      <p:pic>
        <p:nvPicPr>
          <p:cNvPr id="4" name="screen no-scan" descr="/home/user/physical-inv-app/docs/training/shots/es/17-no-sca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Hielo, rota, borrosa. </a:t>
            </a:r>
            <a:pPr algn="l" marL="228600" indent="-228600">
              <a:spcAft>
                <a:spcPts val="1000"/>
              </a:spcAft>
              <a:buSzPct val="100000"/>
              <a:buChar char="•"/>
            </a:pPr>
            <a:r>
              <a:rPr lang="en-US" sz="2200" b="1" dirty="0">
                <a:solidFill>
                  <a:schemeClr val="bg2"/>
                </a:solidFill>
              </a:rPr>
              <a:t>Nunca te saltes la tarima.</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La etiqueta no escanea</a:t>
            </a:r>
            <a:pPr algn="l" marL="228600" indent="-228600">
              <a:spcAft>
                <a:spcPts val="1000"/>
              </a:spcAft>
              <a:buSzPct val="100000"/>
              <a:buChar char="•"/>
            </a:pPr>
            <a:r>
              <a:rPr lang="en-US" sz="2200" dirty="0">
                <a:solidFill>
                  <a:schemeClr val="bg2"/>
                </a:solidFill>
              </a:rPr>
              <a:t>. ¿Puedes leer el número? Toca </a:t>
            </a:r>
            <a:pPr algn="l" marL="228600" indent="-228600">
              <a:spcAft>
                <a:spcPts val="1000"/>
              </a:spcAft>
              <a:buSzPct val="100000"/>
              <a:buChar char="•"/>
            </a:pPr>
            <a:r>
              <a:rPr lang="en-US" sz="2200" b="1" dirty="0">
                <a:solidFill>
                  <a:schemeClr val="bg2"/>
                </a:solidFill>
              </a:rPr>
              <a:t>La puedo leer — la escribo</a:t>
            </a:r>
            <a:pPr algn="l" marL="228600" indent="-228600">
              <a:spcAft>
                <a:spcPts val="1000"/>
              </a:spcAft>
              <a:buSzPct val="100000"/>
              <a:buChar char="•"/>
            </a:pPr>
            <a:r>
              <a:rPr lang="en-US" sz="2200" dirty="0">
                <a:solidFill>
                  <a:schemeClr val="bg2"/>
                </a:solidFill>
              </a:rPr>
              <a:t> y escríbelo.</a:t>
            </a:r>
            <a:endParaRPr lang="en-US" sz="2200" dirty="0"/>
          </a:p>
          <a:p>
            <a:pPr algn="l" marL="228600" indent="-228600">
              <a:spcAft>
                <a:spcPts val="1000"/>
              </a:spcAft>
              <a:buSzPct val="100000"/>
              <a:buChar char="•"/>
            </a:pPr>
            <a:r>
              <a:rPr lang="en-US" sz="2200" dirty="0">
                <a:solidFill>
                  <a:schemeClr val="bg2"/>
                </a:solidFill>
              </a:rPr>
              <a:t>La oficina recibe una lista de etiquetas para cambiar. Tú sigues contando.</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La tarima sí se cuenta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5 · Etiquetas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Una tarima que nadie esperaba</a:t>
            </a:r>
            <a:endParaRPr lang="en-US" sz="3200" dirty="0"/>
          </a:p>
        </p:txBody>
      </p:sp>
      <p:pic>
        <p:nvPicPr>
          <p:cNvPr id="4" name="screen not-on-list" descr="/home/user/physical-inv-app/docs/training/shots/es/18-not-on-list.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¿Una tarima que no está en la lista? El escáner pregunta </a:t>
            </a:r>
            <a:pPr algn="l" marL="228600" indent="-228600">
              <a:spcAft>
                <a:spcPts val="1000"/>
              </a:spcAft>
              <a:buSzPct val="100000"/>
              <a:buChar char="•"/>
            </a:pPr>
            <a:r>
              <a:rPr lang="en-US" sz="2200" b="1" dirty="0">
                <a:solidFill>
                  <a:schemeClr val="bg2"/>
                </a:solidFill>
              </a:rPr>
              <a:t>¿Contarla de todos modos?</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SÍ</a:t>
            </a:r>
            <a:pPr algn="l" marL="228600" indent="-228600">
              <a:spcAft>
                <a:spcPts val="1000"/>
              </a:spcAft>
              <a:buSzPct val="100000"/>
              <a:buChar char="•"/>
            </a:pPr>
            <a:r>
              <a:rPr lang="en-US" sz="2200" dirty="0">
                <a:solidFill>
                  <a:schemeClr val="bg2"/>
                </a:solidFill>
              </a:rPr>
              <a:t> y cuéntala como cualquier otra. ¿Código equivocado? Toca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Si alguna vez el escáner pregunta </a:t>
            </a:r>
            <a:pPr algn="l" marL="228600" indent="-228600">
              <a:spcAft>
                <a:spcPts val="1000"/>
              </a:spcAft>
              <a:buSzPct val="100000"/>
              <a:buChar char="•"/>
            </a:pPr>
            <a:r>
              <a:rPr lang="en-US" sz="2200" b="1" dirty="0">
                <a:solidFill>
                  <a:schemeClr val="bg2"/>
                </a:solidFill>
              </a:rPr>
              <a:t>por qué</a:t>
            </a:r>
            <a:pPr algn="l" marL="228600" indent="-228600">
              <a:spcAft>
                <a:spcPts val="1000"/>
              </a:spcAft>
              <a:buSzPct val="100000"/>
              <a:buChar char="•"/>
            </a:pPr>
            <a:r>
              <a:rPr lang="en-US" sz="2200" dirty="0">
                <a:solidFill>
                  <a:schemeClr val="bg2"/>
                </a:solidFill>
              </a:rPr>
              <a:t>, escoge una razón y toca </a:t>
            </a:r>
            <a:pPr algn="l" marL="228600" indent="-228600">
              <a:spcAft>
                <a:spcPts val="1000"/>
              </a:spcAft>
              <a:buSzPct val="100000"/>
              <a:buChar char="•"/>
            </a:pPr>
            <a:r>
              <a:rPr lang="en-US" sz="2200" b="1" dirty="0">
                <a:solidFill>
                  <a:schemeClr val="bg2"/>
                </a:solidFill>
              </a:rPr>
              <a:t>Aceptar y seguir</a:t>
            </a:r>
            <a:pPr algn="l" marL="228600" indent="-228600">
              <a:spcAft>
                <a:spcPts val="1000"/>
              </a:spcAft>
              <a:buSzPct val="100000"/>
              <a:buChar char="•"/>
            </a:pPr>
            <a:r>
              <a:rPr lang="en-US" sz="2200" dirty="0">
                <a:solidFill>
                  <a:schemeClr val="bg2"/>
                </a:solidFill>
              </a:rPr>
              <a:t>.</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 estás seguro? Pregunta a tu líder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6</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Ayuda y correcciones</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Errores, mensajes, sin Wi-Fi, problemas y el botón SOS.</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¿Te equivocaste?</a:t>
            </a:r>
            <a:endParaRPr lang="en-US" sz="3200" dirty="0"/>
          </a:p>
        </p:txBody>
      </p:sp>
      <p:pic>
        <p:nvPicPr>
          <p:cNvPr id="4" name="screen history" descr="/home/user/physical-inv-app/docs/training/shots/es/19-history.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Antes de terminar la tarima: </a:t>
            </a:r>
            <a:pPr algn="l" marL="228600" indent="-228600">
              <a:spcAft>
                <a:spcPts val="1000"/>
              </a:spcAft>
              <a:buSzPct val="100000"/>
              <a:buChar char="•"/>
            </a:pPr>
            <a:r>
              <a:rPr lang="en-US" sz="2200" b="1" dirty="0">
                <a:solidFill>
                  <a:schemeClr val="bg2"/>
                </a:solidFill>
              </a:rPr>
              <a:t>Atrás</a:t>
            </a:r>
            <a:pPr algn="l" marL="228600" indent="-228600">
              <a:spcAft>
                <a:spcPts val="1000"/>
              </a:spcAft>
              <a:buSzPct val="100000"/>
              <a:buChar char="•"/>
            </a:pPr>
            <a:r>
              <a:rPr lang="en-US" sz="2200" dirty="0">
                <a:solidFill>
                  <a:schemeClr val="bg2"/>
                </a:solidFill>
              </a:rPr>
              <a:t> regresa un paso.</a:t>
            </a:r>
            <a:endParaRPr lang="en-US" sz="2200" dirty="0"/>
          </a:p>
          <a:p>
            <a:pPr algn="l" marL="228600" indent="-228600">
              <a:spcAft>
                <a:spcPts val="1000"/>
              </a:spcAft>
              <a:buSzPct val="100000"/>
              <a:buChar char="•"/>
            </a:pPr>
            <a:r>
              <a:rPr lang="en-US" sz="2200" dirty="0">
                <a:solidFill>
                  <a:schemeClr val="bg2"/>
                </a:solidFill>
              </a:rPr>
              <a:t>Ya guardada: toca </a:t>
            </a:r>
            <a:pPr algn="l" marL="228600" indent="-228600">
              <a:spcAft>
                <a:spcPts val="1000"/>
              </a:spcAft>
              <a:buSzPct val="100000"/>
              <a:buChar char="•"/>
            </a:pPr>
            <a:r>
              <a:rPr lang="en-US" sz="2200" b="1" dirty="0">
                <a:solidFill>
                  <a:schemeClr val="bg2"/>
                </a:solidFill>
              </a:rPr>
              <a:t>Historial</a:t>
            </a:r>
            <a:pPr algn="l" marL="228600" indent="-228600">
              <a:spcAft>
                <a:spcPts val="1000"/>
              </a:spcAft>
              <a:buSzPct val="100000"/>
              <a:buChar char="•"/>
            </a:pPr>
            <a:r>
              <a:rPr lang="en-US" sz="2200" dirty="0">
                <a:solidFill>
                  <a:schemeClr val="bg2"/>
                </a:solidFill>
              </a:rPr>
              <a:t> — tus últimas 50 líneas. </a:t>
            </a:r>
            <a:pPr algn="l" marL="228600" indent="-228600">
              <a:spcAft>
                <a:spcPts val="1000"/>
              </a:spcAft>
              <a:buSzPct val="100000"/>
              <a:buChar char="•"/>
            </a:pPr>
            <a:r>
              <a:rPr lang="en-US" sz="2200" b="1" dirty="0">
                <a:solidFill>
                  <a:schemeClr val="bg2"/>
                </a:solidFill>
              </a:rPr>
              <a:t>Anular esta línea</a:t>
            </a:r>
            <a:pPr algn="l" marL="228600" indent="-228600">
              <a:spcAft>
                <a:spcPts val="1000"/>
              </a:spcAft>
              <a:buSzPct val="100000"/>
              <a:buChar char="•"/>
            </a:pPr>
            <a:r>
              <a:rPr lang="en-US" sz="2200" dirty="0">
                <a:solidFill>
                  <a:schemeClr val="bg2"/>
                </a:solidFill>
              </a:rPr>
              <a:t> quita una mal hecha.</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Un mensaje de la oficina</a:t>
            </a:r>
            <a:endParaRPr lang="en-US" sz="3200" dirty="0"/>
          </a:p>
        </p:txBody>
      </p:sp>
      <p:pic>
        <p:nvPicPr>
          <p:cNvPr id="4" name="screen message" descr="/home/user/physical-inv-app/docs/training/shots/es/20-messag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Tu líder puede mandar un mensaje a tu escáner. Vibra y se queda en la pantalla.</a:t>
            </a:r>
            <a:endParaRPr lang="en-US" sz="2200" dirty="0"/>
          </a:p>
          <a:p>
            <a:pPr algn="l" marL="228600" indent="-228600">
              <a:spcAft>
                <a:spcPts val="1000"/>
              </a:spcAft>
              <a:buSzPct val="100000"/>
              <a:buChar char="•"/>
            </a:pPr>
            <a:r>
              <a:rPr lang="en-US" sz="2200" dirty="0">
                <a:solidFill>
                  <a:schemeClr val="bg2"/>
                </a:solidFill>
              </a:rPr>
              <a:t>Léelo y toca </a:t>
            </a:r>
            <a:pPr algn="l" marL="228600" indent="-228600">
              <a:spcAft>
                <a:spcPts val="1000"/>
              </a:spcAft>
              <a:buSzPct val="100000"/>
              <a:buChar char="•"/>
            </a:pPr>
            <a:r>
              <a:rPr lang="en-US" sz="2200" b="1" dirty="0">
                <a:solidFill>
                  <a:schemeClr val="bg2"/>
                </a:solidFill>
              </a:rPr>
              <a:t>Entendido</a:t>
            </a:r>
            <a:pPr algn="l" marL="228600" indent="-228600">
              <a:spcAft>
                <a:spcPts val="1000"/>
              </a:spcAft>
              <a:buSzPct val="100000"/>
              <a:buChar char="•"/>
            </a:pPr>
            <a:r>
              <a:rPr lang="en-US" sz="2200" dirty="0">
                <a:solidFill>
                  <a:schemeClr val="bg2"/>
                </a:solidFill>
              </a:rPr>
              <a:t> — la oficina ve que lo leíste.</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¿Sin Wi-Fi? Sigue contando</a:t>
            </a:r>
            <a:endParaRPr lang="en-US" sz="3200" dirty="0"/>
          </a:p>
        </p:txBody>
      </p:sp>
      <p:pic>
        <p:nvPicPr>
          <p:cNvPr id="4" name="screen offline" descr="/home/user/physical-inv-app/docs/training/shots/es/21-offline.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En el congelador el Wi-Fi se puede caer. Arriba dice </a:t>
            </a:r>
            <a:pPr algn="l" marL="228600" indent="-228600">
              <a:spcAft>
                <a:spcPts val="1000"/>
              </a:spcAft>
              <a:buSzPct val="100000"/>
              <a:buChar char="•"/>
            </a:pPr>
            <a:r>
              <a:rPr lang="en-US" sz="2200" b="1" dirty="0">
                <a:solidFill>
                  <a:schemeClr val="bg2"/>
                </a:solidFill>
              </a:rPr>
              <a:t>SIN SEÑAL</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b="1" dirty="0">
                <a:solidFill>
                  <a:schemeClr val="bg2"/>
                </a:solidFill>
              </a:rPr>
              <a:t>Sigue contando.</a:t>
            </a:r>
            <a:pPr algn="l" marL="228600" indent="-228600">
              <a:spcAft>
                <a:spcPts val="1000"/>
              </a:spcAft>
              <a:buSzPct val="100000"/>
              <a:buChar char="•"/>
            </a:pPr>
            <a:r>
              <a:rPr lang="en-US" sz="2200" dirty="0">
                <a:solidFill>
                  <a:schemeClr val="bg2"/>
                </a:solidFill>
              </a:rPr>
              <a:t> Todo se guarda en el escáner.</a:t>
            </a:r>
            <a:endParaRPr lang="en-US" sz="2200" dirty="0"/>
          </a:p>
          <a:p>
            <a:pPr algn="l" marL="228600" indent="-228600">
              <a:spcAft>
                <a:spcPts val="1000"/>
              </a:spcAft>
              <a:buSzPct val="100000"/>
              <a:buChar char="•"/>
            </a:pPr>
            <a:r>
              <a:rPr lang="en-US" sz="2200" dirty="0">
                <a:solidFill>
                  <a:schemeClr val="bg2"/>
                </a:solidFill>
              </a:rPr>
              <a:t>Cuando regresa la señal, las líneas se van a la oficina solas. No hay que escribir nada otra vez.</a:t>
            </a:r>
            <a:endParaRPr lang="en-US" sz="2200" dirty="0"/>
          </a:p>
        </p:txBody>
      </p:sp>
      <p:sp>
        <p:nvSpPr>
          <p:cNvPr id="6" name="tip box"/>
          <p:cNvSpPr/>
          <p:nvPr/>
        </p:nvSpPr>
        <p:spPr>
          <a:xfrm>
            <a:off x="548640" y="5715000"/>
            <a:ext cx="6583680" cy="502920"/>
          </a:xfrm>
          <a:prstGeom prst="roundRect">
            <a:avLst>
              <a:gd name="adj" fmla="val 21818"/>
            </a:avLst>
          </a:prstGeom>
          <a:solidFill>
            <a:srgbClr val="18293F"/>
          </a:solidFill>
          <a:ln w="12700">
            <a:solidFill>
              <a:srgbClr val="FFC20E"/>
            </a:solidFill>
            <a:prstDash val="solid"/>
          </a:ln>
        </p:spPr>
      </p:sp>
      <p:sp>
        <p:nvSpPr>
          <p:cNvPr id="7" name="tip"/>
          <p:cNvSpPr txBox="1"/>
          <p:nvPr/>
        </p:nvSpPr>
        <p:spPr>
          <a:xfrm>
            <a:off x="713232" y="5715000"/>
            <a:ext cx="6309360" cy="502920"/>
          </a:xfrm>
          <a:prstGeom prst="rect">
            <a:avLst/>
          </a:prstGeom>
          <a:noFill/>
          <a:ln/>
        </p:spPr>
        <p:txBody>
          <a:bodyPr wrap="square" lIns="0" tIns="0" rIns="0" bIns="0" rtlCol="0" anchor="ctr"/>
          <a:lstStyle/>
          <a:p>
            <a:pPr indent="0" marL="0">
              <a:buNone/>
            </a:pPr>
            <a:r>
              <a:rPr lang="en-US" sz="1600" b="1" dirty="0">
                <a:solidFill>
                  <a:schemeClr val="accent1"/>
                </a:solidFill>
              </a:rPr>
              <a:t>No se pierde nada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Algo está mal en el lugar</a:t>
            </a:r>
            <a:endParaRPr lang="en-US" sz="3200" dirty="0"/>
          </a:p>
        </p:txBody>
      </p:sp>
      <p:pic>
        <p:nvPicPr>
          <p:cNvPr id="4" name="screen report-problem" descr="/home/user/physical-inv-app/docs/training/shots/es/22-report-problem.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¿Tarima dañada, rack roto, un lugar bloqueado por un montacargas?</a:t>
            </a:r>
            <a:endParaRPr lang="en-US" sz="2200" dirty="0"/>
          </a:p>
          <a:p>
            <a:pPr algn="l" marL="228600" indent="-228600">
              <a:spcAft>
                <a:spcPts val="1000"/>
              </a:spcAft>
              <a:buSzPct val="100000"/>
              <a:buChar char="•"/>
            </a:pPr>
            <a:r>
              <a:rPr lang="en-US" sz="2200" dirty="0">
                <a:solidFill>
                  <a:schemeClr val="bg2"/>
                </a:solidFill>
              </a:rPr>
              <a:t>Toca </a:t>
            </a:r>
            <a:pPr algn="l" marL="228600" indent="-228600">
              <a:spcAft>
                <a:spcPts val="1000"/>
              </a:spcAft>
              <a:buSzPct val="100000"/>
              <a:buChar char="•"/>
            </a:pPr>
            <a:r>
              <a:rPr lang="en-US" sz="2200" b="1" dirty="0">
                <a:solidFill>
                  <a:schemeClr val="bg2"/>
                </a:solidFill>
              </a:rPr>
              <a:t>Reportar un problema</a:t>
            </a:r>
            <a:pPr algn="l" marL="228600" indent="-228600">
              <a:spcAft>
                <a:spcPts val="1000"/>
              </a:spcAft>
              <a:buSzPct val="100000"/>
              <a:buChar char="•"/>
            </a:pPr>
            <a:r>
              <a:rPr lang="en-US" sz="2200" dirty="0">
                <a:solidFill>
                  <a:schemeClr val="bg2"/>
                </a:solidFill>
              </a:rPr>
              <a:t>, escoge qué es y escanea para confirmar.</a:t>
            </a:r>
            <a:endParaRPr lang="en-US" sz="2200" dirty="0"/>
          </a:p>
          <a:p>
            <a:pPr algn="l" marL="228600" indent="-228600">
              <a:spcAft>
                <a:spcPts val="1000"/>
              </a:spcAft>
              <a:buSzPct val="100000"/>
              <a:buChar char="•"/>
            </a:pPr>
            <a:r>
              <a:rPr lang="en-US" sz="2200" dirty="0">
                <a:solidFill>
                  <a:schemeClr val="bg2"/>
                </a:solidFill>
              </a:rPr>
              <a:t>Va a la lista de arreglos de la oficina. </a:t>
            </a:r>
            <a:pPr algn="l" marL="228600" indent="-228600">
              <a:spcAft>
                <a:spcPts val="1000"/>
              </a:spcAft>
              <a:buSzPct val="100000"/>
              <a:buChar char="•"/>
            </a:pPr>
            <a:r>
              <a:rPr lang="en-US" sz="2200" b="1" dirty="0">
                <a:solidFill>
                  <a:schemeClr val="bg2"/>
                </a:solidFill>
              </a:rPr>
              <a:t>No</a:t>
            </a:r>
            <a:pPr algn="l" marL="228600" indent="-228600">
              <a:spcAft>
                <a:spcPts val="1000"/>
              </a:spcAft>
              <a:buSzPct val="100000"/>
              <a:buChar char="•"/>
            </a:pPr>
            <a:r>
              <a:rPr lang="en-US" sz="2200" dirty="0">
                <a:solidFill>
                  <a:schemeClr val="bg2"/>
                </a:solidFill>
              </a:rPr>
              <a:t> es una emergencia.</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6 · Ayuda y correcciones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SOS — cuando necesitas ayuda ya</a:t>
            </a:r>
            <a:endParaRPr lang="en-US" sz="3200" dirty="0"/>
          </a:p>
        </p:txBody>
      </p:sp>
      <p:pic>
        <p:nvPicPr>
          <p:cNvPr id="4" name="screen sos-list" descr="/home/user/physical-inv-app/docs/training/shots/es/23-sos-list.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os-seen" descr="/home/user/physical-inv-app/docs/training/shots/es/24-sos-seen.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Alguien lastimado, atrapado, equipo roto, o necesitas un supervisor.</a:t>
            </a:r>
            <a:endParaRPr lang="en-US" sz="2200" dirty="0"/>
          </a:p>
          <a:p>
            <a:pPr algn="l" marL="228600" indent="-228600">
              <a:spcAft>
                <a:spcPts val="1000"/>
              </a:spcAft>
              <a:buSzPct val="100000"/>
              <a:buChar char="•"/>
            </a:pPr>
            <a:r>
              <a:rPr lang="en-US" sz="2200" dirty="0">
                <a:solidFill>
                  <a:schemeClr val="bg2"/>
                </a:solidFill>
              </a:rPr>
              <a:t>Toca el botón rojo </a:t>
            </a:r>
            <a:pPr algn="l" marL="228600" indent="-228600">
              <a:spcAft>
                <a:spcPts val="1000"/>
              </a:spcAft>
              <a:buSzPct val="100000"/>
              <a:buChar char="•"/>
            </a:pPr>
            <a:r>
              <a:rPr lang="en-US" sz="2200" b="1" dirty="0">
                <a:solidFill>
                  <a:schemeClr val="bg2"/>
                </a:solidFill>
              </a:rPr>
              <a:t>SOS — necesito ayuda</a:t>
            </a:r>
            <a:pPr algn="l" marL="228600" indent="-228600">
              <a:spcAft>
                <a:spcPts val="1000"/>
              </a:spcAft>
              <a:buSzPct val="100000"/>
              <a:buChar char="•"/>
            </a:pPr>
            <a:r>
              <a:rPr lang="en-US" sz="2200" dirty="0">
                <a:solidFill>
                  <a:schemeClr val="bg2"/>
                </a:solidFill>
              </a:rPr>
              <a:t> y escoge qué pasa.</a:t>
            </a:r>
            <a:endParaRPr lang="en-US" sz="2200" dirty="0"/>
          </a:p>
          <a:p>
            <a:pPr algn="l" marL="228600" indent="-228600">
              <a:spcAft>
                <a:spcPts val="1000"/>
              </a:spcAft>
              <a:buSzPct val="100000"/>
              <a:buChar char="•"/>
            </a:pPr>
            <a:r>
              <a:rPr lang="en-US" sz="2200" dirty="0">
                <a:solidFill>
                  <a:schemeClr val="bg2"/>
                </a:solidFill>
              </a:rPr>
              <a:t>La oficina ve tu equipo, tu pasillo y tu último lugar de inmediato. Cuando un supervisor lo atiende, tu escáner dice quién lo vio.</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¿Sin señal? Dice que NO se mandó — ve a buscar a alguien</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822960" y="2194560"/>
            <a:ext cx="10515600" cy="457200"/>
          </a:xfrm>
          <a:prstGeom prst="rect">
            <a:avLst/>
          </a:prstGeom>
          <a:noFill/>
          <a:ln/>
        </p:spPr>
        <p:txBody>
          <a:bodyPr wrap="square" lIns="0" tIns="0" rIns="0" bIns="0" rtlCol="0"/>
          <a:lstStyle/>
          <a:p>
            <a:pPr indent="0" marL="0">
              <a:buNone/>
            </a:pPr>
            <a:r>
              <a:rPr lang="en-US" sz="1800" b="1" spc="400" kern="0" dirty="0">
                <a:solidFill>
                  <a:schemeClr val="accent1"/>
                </a:solidFill>
              </a:rPr>
              <a:t>Parte 7</a:t>
            </a:r>
            <a:endParaRPr lang="en-US" sz="1800" dirty="0"/>
          </a:p>
        </p:txBody>
      </p:sp>
      <p:sp>
        <p:nvSpPr>
          <p:cNvPr id="3" name="Text 0"/>
          <p:cNvSpPr/>
          <p:nvPr>
            <p:ph idx="101" type="title" hasCustomPrompt="1"/>
          </p:nvPr>
        </p:nvSpPr>
        <p:spPr>
          <a:xfrm>
            <a:off x="822960" y="2697480"/>
            <a:ext cx="10515600" cy="1280160"/>
          </a:xfrm>
          <a:prstGeom prst="rect">
            <a:avLst/>
          </a:prstGeom>
          <a:noFill/>
          <a:ln/>
        </p:spPr>
        <p:txBody>
          <a:bodyPr wrap="square" lIns="0" tIns="0" rIns="0" bIns="0" rtlCol="0" anchor="t"/>
          <a:lstStyle/>
          <a:p>
            <a:pPr algn="l" indent="0" marL="0">
              <a:buNone/>
            </a:pPr>
            <a:r>
              <a:rPr lang="en-US" sz="4800" b="1" dirty="0">
                <a:solidFill>
                  <a:schemeClr val="bg1"/>
                </a:solidFill>
              </a:rPr>
              <a:t>Segundos conteos, y terminar</a:t>
            </a:r>
            <a:endParaRPr lang="en-US" sz="4800" dirty="0"/>
          </a:p>
        </p:txBody>
      </p:sp>
      <p:sp>
        <p:nvSpPr>
          <p:cNvPr id="4" name="Text 0"/>
          <p:cNvSpPr/>
          <p:nvPr>
            <p:ph idx="102" type="body" hasCustomPrompt="1"/>
          </p:nvPr>
        </p:nvSpPr>
        <p:spPr>
          <a:xfrm>
            <a:off x="822960" y="4023360"/>
            <a:ext cx="9601200" cy="1097280"/>
          </a:xfrm>
          <a:prstGeom prst="rect">
            <a:avLst/>
          </a:prstGeom>
          <a:noFill/>
          <a:ln/>
        </p:spPr>
        <p:txBody>
          <a:bodyPr wrap="square" lIns="0" tIns="0" rIns="0" bIns="0" rtlCol="0" anchor="t"/>
          <a:lstStyle/>
          <a:p>
            <a:pPr indent="0" marL="0">
              <a:buNone/>
            </a:pPr>
            <a:r>
              <a:rPr lang="en-US" sz="2400" dirty="0">
                <a:solidFill>
                  <a:schemeClr val="bg2"/>
                </a:solidFill>
              </a:rPr>
              <a:t>Volver a contar un lugar, entregar el pasillo y salir.</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7 · Segundos conteos, y terminar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Segundos conteos</a:t>
            </a:r>
            <a:endParaRPr lang="en-US" sz="3200" dirty="0"/>
          </a:p>
        </p:txBody>
      </p:sp>
      <p:pic>
        <p:nvPicPr>
          <p:cNvPr id="4" name="screen second-counts-offered" descr="/home/user/physical-inv-app/docs/training/shots/es/25-second-counts-offered.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second-count" descr="/home/user/physical-inv-app/docs/training/shots/es/26-second-count.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A veces la oficina necesita contar un lugar otra vez, por otro equipo.</a:t>
            </a:r>
            <a:endParaRPr lang="en-US" sz="2200" dirty="0"/>
          </a:p>
          <a:p>
            <a:pPr algn="l" marL="228600" indent="-228600">
              <a:spcAft>
                <a:spcPts val="1000"/>
              </a:spcAft>
              <a:buSzPct val="100000"/>
              <a:buChar char="•"/>
            </a:pPr>
            <a:r>
              <a:rPr lang="en-US" sz="2200" dirty="0">
                <a:solidFill>
                  <a:schemeClr val="bg2"/>
                </a:solidFill>
              </a:rPr>
              <a:t>Cuando hay para ti, </a:t>
            </a:r>
            <a:pPr algn="l" marL="228600" indent="-228600">
              <a:spcAft>
                <a:spcPts val="1000"/>
              </a:spcAft>
              <a:buSzPct val="100000"/>
              <a:buChar char="•"/>
            </a:pPr>
            <a:r>
              <a:rPr lang="en-US" sz="2200" b="1" dirty="0">
                <a:solidFill>
                  <a:schemeClr val="bg2"/>
                </a:solidFill>
              </a:rPr>
              <a:t>Mi pasillo</a:t>
            </a:r>
            <a:pPr algn="l" marL="228600" indent="-228600">
              <a:spcAft>
                <a:spcPts val="1000"/>
              </a:spcAft>
              <a:buSzPct val="100000"/>
              <a:buChar char="•"/>
            </a:pPr>
            <a:r>
              <a:rPr lang="en-US" sz="2200" dirty="0">
                <a:solidFill>
                  <a:schemeClr val="bg2"/>
                </a:solidFill>
              </a:rPr>
              <a:t> muestra </a:t>
            </a:r>
            <a:pPr algn="l" marL="228600" indent="-228600">
              <a:spcAft>
                <a:spcPts val="1000"/>
              </a:spcAft>
              <a:buSzPct val="100000"/>
              <a:buChar char="•"/>
            </a:pPr>
            <a:r>
              <a:rPr lang="en-US" sz="2200" b="1" dirty="0">
                <a:solidFill>
                  <a:schemeClr val="bg2"/>
                </a:solidFill>
              </a:rPr>
              <a:t>Empezar segundos conteos</a:t>
            </a:r>
            <a:pPr algn="l" marL="228600" indent="-228600">
              <a:spcAft>
                <a:spcPts val="1000"/>
              </a:spcAft>
              <a:buSzPct val="100000"/>
              <a:buChar char="•"/>
            </a:pPr>
            <a:r>
              <a:rPr lang="en-US" sz="2200" dirty="0">
                <a:solidFill>
                  <a:schemeClr val="bg2"/>
                </a:solidFill>
              </a:rPr>
              <a:t>.</a:t>
            </a:r>
            <a:endParaRPr lang="en-US" sz="2200" dirty="0"/>
          </a:p>
          <a:p>
            <a:pPr algn="l" marL="228600" indent="-228600">
              <a:spcAft>
                <a:spcPts val="1000"/>
              </a:spcAft>
              <a:buSzPct val="100000"/>
              <a:buChar char="•"/>
            </a:pPr>
            <a:r>
              <a:rPr lang="en-US" sz="2200" dirty="0">
                <a:solidFill>
                  <a:schemeClr val="bg2"/>
                </a:solidFill>
              </a:rPr>
              <a:t>Ve al lugar y cuenta todo — rack, tarima, cantidad. Luego toca </a:t>
            </a:r>
            <a:pPr algn="l" marL="228600" indent="-228600">
              <a:spcAft>
                <a:spcPts val="1000"/>
              </a:spcAft>
              <a:buSzPct val="100000"/>
              <a:buChar char="•"/>
            </a:pPr>
            <a:r>
              <a:rPr lang="en-US" sz="2200" b="1" dirty="0">
                <a:solidFill>
                  <a:schemeClr val="bg2"/>
                </a:solidFill>
              </a:rPr>
              <a:t>Ubicación terminada — no hay más aquí</a:t>
            </a:r>
            <a:pPr algn="l" marL="228600" indent="-228600">
              <a:spcAft>
                <a:spcPts val="1000"/>
              </a:spcAft>
              <a:buSzPct val="100000"/>
              <a:buChar char="•"/>
            </a:pPr>
            <a:r>
              <a:rPr lang="en-US" sz="2200" dirty="0">
                <a:solidFill>
                  <a:schemeClr val="bg2"/>
                </a:solidFill>
              </a:rPr>
              <a:t>.</a:t>
            </a:r>
            <a:endParaRPr lang="en-US" sz="2200" dirty="0"/>
          </a:p>
        </p:txBody>
      </p:sp>
      <p:sp>
        <p:nvSpPr>
          <p:cNvPr id="7" name="tip box"/>
          <p:cNvSpPr/>
          <p:nvPr/>
        </p:nvSpPr>
        <p:spPr>
          <a:xfrm>
            <a:off x="548640" y="5715000"/>
            <a:ext cx="4905160" cy="502920"/>
          </a:xfrm>
          <a:prstGeom prst="roundRect">
            <a:avLst>
              <a:gd name="adj" fmla="val 21818"/>
            </a:avLst>
          </a:prstGeom>
          <a:solidFill>
            <a:srgbClr val="18293F"/>
          </a:solidFill>
          <a:ln w="12700">
            <a:solidFill>
              <a:srgbClr val="FFC20E"/>
            </a:solidFill>
            <a:prstDash val="solid"/>
          </a:ln>
        </p:spPr>
      </p:sp>
      <p:sp>
        <p:nvSpPr>
          <p:cNvPr id="8" name="tip"/>
          <p:cNvSpPr txBox="1"/>
          <p:nvPr/>
        </p:nvSpPr>
        <p:spPr>
          <a:xfrm>
            <a:off x="713232" y="5715000"/>
            <a:ext cx="4630840" cy="502920"/>
          </a:xfrm>
          <a:prstGeom prst="rect">
            <a:avLst/>
          </a:prstGeom>
          <a:noFill/>
          <a:ln/>
        </p:spPr>
        <p:txBody>
          <a:bodyPr wrap="square" lIns="0" tIns="0" rIns="0" bIns="0" rtlCol="0" anchor="ctr"/>
          <a:lstStyle/>
          <a:p>
            <a:pPr indent="0" marL="0">
              <a:buNone/>
            </a:pPr>
            <a:r>
              <a:rPr lang="en-US" sz="1600" b="1" dirty="0">
                <a:solidFill>
                  <a:schemeClr val="accent1"/>
                </a:solidFill>
              </a:rPr>
              <a:t>No te dicen el primer conteo</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Parte 7 · Segundos conteos, y terminar</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Terminar el pasillo, y salir</a:t>
            </a:r>
            <a:endParaRPr lang="en-US" sz="3200" dirty="0"/>
          </a:p>
        </p:txBody>
      </p:sp>
      <p:pic>
        <p:nvPicPr>
          <p:cNvPr id="4" name="screen aisle-complete" descr="/home/user/physical-inv-app/docs/training/shots/es/27-aisle-complete.png">    </p:cNvPr>
          <p:cNvPicPr>
            <a:picLocks noChangeAspect="1"/>
          </p:cNvPicPr>
          <p:nvPr/>
        </p:nvPicPr>
        <p:blipFill>
          <a:blip r:embed="rId1"/>
          <a:stretch>
            <a:fillRect/>
          </a:stretch>
        </p:blipFill>
        <p:spPr>
          <a:xfrm>
            <a:off x="5819560" y="1143000"/>
            <a:ext cx="2805220" cy="4937760"/>
          </a:xfrm>
          <a:prstGeom prst="rect">
            <a:avLst/>
          </a:prstGeom>
        </p:spPr>
      </p:pic>
      <p:pic>
        <p:nvPicPr>
          <p:cNvPr id="5" name="screen next-aisle" descr="/home/user/physical-inv-app/docs/training/shots/es/28-next-aisle.png">    </p:cNvPr>
          <p:cNvPicPr>
            <a:picLocks noChangeAspect="1"/>
          </p:cNvPicPr>
          <p:nvPr/>
        </p:nvPicPr>
        <p:blipFill>
          <a:blip r:embed="rId2"/>
          <a:stretch>
            <a:fillRect/>
          </a:stretch>
        </p:blipFill>
        <p:spPr>
          <a:xfrm>
            <a:off x="8853380" y="1143000"/>
            <a:ext cx="2805220" cy="4937760"/>
          </a:xfrm>
          <a:prstGeom prst="rect">
            <a:avLst/>
          </a:prstGeom>
        </p:spPr>
      </p:pic>
      <p:sp>
        <p:nvSpPr>
          <p:cNvPr id="6" name="what to do"/>
          <p:cNvSpPr txBox="1"/>
          <p:nvPr/>
        </p:nvSpPr>
        <p:spPr>
          <a:xfrm>
            <a:off x="548640" y="1691640"/>
            <a:ext cx="4905160" cy="4206240"/>
          </a:xfrm>
          <a:prstGeom prst="rect">
            <a:avLst/>
          </a:prstGeom>
          <a:noFill/>
          <a:ln/>
        </p:spPr>
        <p:txBody>
          <a:bodyPr wrap="square" lIns="0" tIns="0" rIns="0" bIns="0" rtlCol="0" anchor="t"/>
          <a:lstStyle/>
          <a:p>
            <a:pPr algn="l" marL="228600" indent="-228600">
              <a:spcAft>
                <a:spcPts val="1000"/>
              </a:spcAft>
              <a:buSzPct val="100000"/>
              <a:buChar char="•"/>
            </a:pPr>
            <a:r>
              <a:rPr lang="en-US" sz="2200" dirty="0">
                <a:solidFill>
                  <a:schemeClr val="bg2"/>
                </a:solidFill>
              </a:rPr>
              <a:t>Solo cuando cada lugar de tus niveles está contado: abre </a:t>
            </a:r>
            <a:pPr algn="l" marL="228600" indent="-228600">
              <a:spcAft>
                <a:spcPts val="1000"/>
              </a:spcAft>
              <a:buSzPct val="100000"/>
              <a:buChar char="•"/>
            </a:pPr>
            <a:r>
              <a:rPr lang="en-US" sz="2200" b="1" dirty="0">
                <a:solidFill>
                  <a:schemeClr val="bg2"/>
                </a:solidFill>
              </a:rPr>
              <a:t>Mi pasillo</a:t>
            </a:r>
            <a:pPr algn="l" marL="228600" indent="-228600">
              <a:spcAft>
                <a:spcPts val="1000"/>
              </a:spcAft>
              <a:buSzPct val="100000"/>
              <a:buChar char="•"/>
            </a:pPr>
            <a:r>
              <a:rPr lang="en-US" sz="2200" dirty="0">
                <a:solidFill>
                  <a:schemeClr val="bg2"/>
                </a:solidFill>
              </a:rPr>
              <a:t> y toca </a:t>
            </a:r>
            <a:pPr algn="l" marL="228600" indent="-228600">
              <a:spcAft>
                <a:spcPts val="1000"/>
              </a:spcAft>
              <a:buSzPct val="100000"/>
              <a:buChar char="•"/>
            </a:pPr>
            <a:r>
              <a:rPr lang="en-US" sz="2200" b="1" dirty="0">
                <a:solidFill>
                  <a:schemeClr val="bg2"/>
                </a:solidFill>
              </a:rPr>
              <a:t>Pasillo terminado — siguiente pasillo</a:t>
            </a:r>
            <a:pPr algn="l" marL="228600" indent="-228600">
              <a:spcAft>
                <a:spcPts val="1000"/>
              </a:spcAft>
              <a:buSzPct val="100000"/>
              <a:buChar char="•"/>
            </a:pPr>
            <a:r>
              <a:rPr lang="en-US" sz="2200" dirty="0">
                <a:solidFill>
                  <a:schemeClr val="bg2"/>
                </a:solidFill>
              </a:rPr>
              <a:t>. El escáner te da el siguiente.</a:t>
            </a:r>
            <a:endParaRPr lang="en-US" sz="2200" dirty="0"/>
          </a:p>
          <a:p>
            <a:pPr algn="l" marL="228600" indent="-228600">
              <a:spcAft>
                <a:spcPts val="1000"/>
              </a:spcAft>
              <a:buSzPct val="100000"/>
              <a:buChar char="•"/>
            </a:pPr>
            <a:r>
              <a:rPr lang="en-US" sz="2200" dirty="0">
                <a:solidFill>
                  <a:schemeClr val="bg2"/>
                </a:solidFill>
              </a:rPr>
              <a:t>¿Descanso o a casa? Toca </a:t>
            </a:r>
            <a:pPr algn="l" marL="228600" indent="-228600">
              <a:spcAft>
                <a:spcPts val="1000"/>
              </a:spcAft>
              <a:buSzPct val="100000"/>
              <a:buChar char="•"/>
            </a:pPr>
            <a:r>
              <a:rPr lang="en-US" sz="2200" b="1" dirty="0">
                <a:solidFill>
                  <a:schemeClr val="bg2"/>
                </a:solidFill>
              </a:rPr>
              <a:t>Salir de este escáner</a:t>
            </a:r>
            <a:pPr algn="l" marL="228600" indent="-228600">
              <a:spcAft>
                <a:spcPts val="1000"/>
              </a:spcAft>
              <a:buSzPct val="100000"/>
              <a:buChar char="•"/>
            </a:pPr>
            <a:r>
              <a:rPr lang="en-US" sz="2200" dirty="0">
                <a:solidFill>
                  <a:schemeClr val="bg2"/>
                </a:solidFill>
              </a:rPr>
              <a:t> y pon el escáner en su cargador.</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Las reglas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Las cinco reglas</a:t>
            </a:r>
            <a:endParaRPr lang="en-US" sz="3200" dirty="0"/>
          </a:p>
        </p:txBody>
      </p:sp>
      <p:pic>
        <p:nvPicPr>
          <p:cNvPr id="4" name="screen next-bin" descr="/home/user/physical-inv-app/docs/training/shots/es/05-next-bin.png">    </p:cNvPr>
          <p:cNvPicPr>
            <a:picLocks noChangeAspect="1"/>
          </p:cNvPicPr>
          <p:nvPr/>
        </p:nvPicPr>
        <p:blipFill>
          <a:blip r:embed="rId1"/>
          <a:stretch>
            <a:fillRect/>
          </a:stretch>
        </p:blipFill>
        <p:spPr>
          <a:xfrm>
            <a:off x="8541689" y="868680"/>
            <a:ext cx="3116911" cy="5486400"/>
          </a:xfrm>
          <a:prstGeom prst="rect">
            <a:avLst/>
          </a:prstGeom>
        </p:spPr>
      </p:pic>
      <p:sp>
        <p:nvSpPr>
          <p:cNvPr id="5" name="what to do"/>
          <p:cNvSpPr txBox="1"/>
          <p:nvPr/>
        </p:nvSpPr>
        <p:spPr>
          <a:xfrm>
            <a:off x="548640" y="1691640"/>
            <a:ext cx="7627289" cy="4206240"/>
          </a:xfrm>
          <a:prstGeom prst="rect">
            <a:avLst/>
          </a:prstGeom>
          <a:noFill/>
          <a:ln/>
        </p:spPr>
        <p:txBody>
          <a:bodyPr wrap="square" lIns="0" tIns="0" rIns="0" bIns="0" rtlCol="0" anchor="t"/>
          <a:lstStyle/>
          <a:p>
            <a:pPr algn="l" indent="0" marL="0">
              <a:spcAft>
                <a:spcPts val="1400"/>
              </a:spcAft>
              <a:buNone/>
            </a:pPr>
            <a:r>
              <a:rPr lang="en-US" sz="2200" b="1" dirty="0">
                <a:solidFill>
                  <a:schemeClr val="bg2"/>
                </a:solidFill>
              </a:rPr>
              <a:t>Cuenta lo que de verdad hay.</a:t>
            </a:r>
            <a:pPr algn="l" indent="0" marL="0">
              <a:spcAft>
                <a:spcPts val="1400"/>
              </a:spcAft>
              <a:buNone/>
            </a:pPr>
            <a:r>
              <a:rPr lang="en-US" sz="2200" dirty="0">
                <a:solidFill>
                  <a:schemeClr val="bg2"/>
                </a:solidFill>
              </a:rPr>
              <a:t> Nunca lo que debería ser.</a:t>
            </a:r>
            <a:endParaRPr lang="en-US" sz="2200" dirty="0"/>
          </a:p>
          <a:p>
            <a:pPr algn="l" indent="0" marL="0">
              <a:spcAft>
                <a:spcPts val="1400"/>
              </a:spcAft>
              <a:buNone/>
            </a:pPr>
            <a:r>
              <a:rPr lang="en-US" sz="2200" b="1" dirty="0">
                <a:solidFill>
                  <a:schemeClr val="bg2"/>
                </a:solidFill>
              </a:rPr>
              <a:t>Nunca te saltes una tarima.</a:t>
            </a:r>
            <a:pPr algn="l" indent="0" marL="0">
              <a:spcAft>
                <a:spcPts val="1400"/>
              </a:spcAft>
              <a:buNone/>
            </a:pPr>
            <a:r>
              <a:rPr lang="en-US" sz="2200" dirty="0">
                <a:solidFill>
                  <a:schemeClr val="bg2"/>
                </a:solidFill>
              </a:rPr>
              <a:t> ¿Sin etiqueta? La etiqueta no escanea.</a:t>
            </a:r>
            <a:endParaRPr lang="en-US" sz="2200" dirty="0"/>
          </a:p>
          <a:p>
            <a:pPr algn="l" indent="0" marL="0">
              <a:spcAft>
                <a:spcPts val="1400"/>
              </a:spcAft>
              <a:buNone/>
            </a:pPr>
            <a:r>
              <a:rPr lang="en-US" sz="2200" b="1" dirty="0">
                <a:solidFill>
                  <a:schemeClr val="bg2"/>
                </a:solidFill>
              </a:rPr>
              <a:t>Sigue Siguiente ubicación.</a:t>
            </a:r>
            <a:pPr algn="l" indent="0" marL="0">
              <a:spcAft>
                <a:spcPts val="1400"/>
              </a:spcAft>
              <a:buNone/>
            </a:pPr>
            <a:r>
              <a:rPr lang="en-US" sz="2200" dirty="0">
                <a:solidFill>
                  <a:schemeClr val="bg2"/>
                </a:solidFill>
              </a:rPr>
              <a:t> Cada lugar, en orden, los vacíos también.</a:t>
            </a:r>
            <a:endParaRPr lang="en-US" sz="2200" dirty="0"/>
          </a:p>
          <a:p>
            <a:pPr algn="l" indent="0" marL="0">
              <a:spcAft>
                <a:spcPts val="1400"/>
              </a:spcAft>
              <a:buNone/>
            </a:pPr>
            <a:r>
              <a:rPr lang="en-US" sz="2200" b="1" dirty="0">
                <a:solidFill>
                  <a:schemeClr val="bg2"/>
                </a:solidFill>
              </a:rPr>
              <a:t>¿Sin Wi-Fi? Sigue contando.</a:t>
            </a:r>
            <a:endParaRPr lang="en-US" sz="2200" dirty="0"/>
          </a:p>
          <a:p>
            <a:pPr algn="l" indent="0" marL="0">
              <a:spcAft>
                <a:spcPts val="1400"/>
              </a:spcAft>
              <a:buNone/>
            </a:pPr>
            <a:r>
              <a:rPr lang="en-US" sz="2200" b="1" dirty="0">
                <a:solidFill>
                  <a:schemeClr val="bg2"/>
                </a:solidFill>
              </a:rPr>
              <a:t>¿Dudas? Pregunta a tu líder.</a:t>
            </a:r>
            <a:pPr algn="l" indent="0" marL="0">
              <a:spcAft>
                <a:spcPts val="1400"/>
              </a:spcAft>
              <a:buNone/>
            </a:pPr>
            <a:r>
              <a:rPr lang="en-US" sz="2200" dirty="0">
                <a:solidFill>
                  <a:schemeClr val="bg2"/>
                </a:solidFill>
              </a:rPr>
              <a:t> ¿Ayuda ya? SOS.</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200" b="1" spc="300" kern="0" dirty="0">
                <a:solidFill>
                  <a:schemeClr val="accent1"/>
                </a:solidFill>
              </a:rPr>
              <a:t>Las reglas</a:t>
            </a:r>
            <a:endParaRPr lang="en-US" sz="1200" dirty="0"/>
          </a:p>
        </p:txBody>
      </p:sp>
      <p:sp>
        <p:nvSpPr>
          <p:cNvPr id="3" name="Text 0"/>
          <p:cNvSpPr/>
          <p:nvPr>
            <p:ph idx="101" type="title" hasCustomPrompt="1"/>
          </p:nvPr>
        </p:nvSpPr>
        <p:spPr>
          <a:xfrm>
            <a:off x="548640" y="640080"/>
            <a:ext cx="7680960" cy="960120"/>
          </a:xfrm>
          <a:prstGeom prst="rect">
            <a:avLst/>
          </a:prstGeom>
          <a:noFill/>
          <a:ln/>
        </p:spPr>
        <p:txBody>
          <a:bodyPr wrap="square" lIns="0" tIns="0" rIns="0" bIns="0" rtlCol="0" anchor="t"/>
          <a:lstStyle/>
          <a:p>
            <a:pPr algn="l" indent="0" marL="0">
              <a:buNone/>
            </a:pPr>
            <a:r>
              <a:rPr lang="en-US" sz="3200" b="1" dirty="0">
                <a:solidFill>
                  <a:schemeClr val="bg1"/>
                </a:solidFill>
              </a:rPr>
              <a:t>Los botones, en una página</a:t>
            </a:r>
            <a:endParaRPr lang="en-US" sz="3200" dirty="0"/>
          </a:p>
        </p:txBody>
      </p:sp>
      <p:graphicFrame>
        <p:nvGraphicFramePr>
          <p:cNvPr id="34" name="the buttons"/>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6858000"/>
              </a:tblGrid>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Ubicación VACÍA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No hay nada en el lugar: después del rack, tócalo y luego Sí</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No hay más aquí →</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El escáner espera más tarimas, no hay</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Esta tarima tiene más de una etiqueta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Después del rack: cada etiqueta con sus cajas, luego Listo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Otra etiqueta en la tarima recién contada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Una segunda etiqueta vista después de guardar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La etiqueta no escanea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Escribe lo impreso, o cuéntala sin etiqueta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Atrás / Teclado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Un paso atrás / escribir a mano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Historial → Anular esta línea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Quitar una línea mal hecha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Reportar un problema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Daño o un lugar bloqueado. No es emergencia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SOS — necesito ayuda</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Una emergencia. La oficina viene</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Pasillo terminado — siguiente pasillo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Solo cuando todo el pasillo está contado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Empezar segundos conteos</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Lugares para volver a contar, en Mi pasillo</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r h="347472">
                <a:tc>
                  <a:txBody>
                    <a:bodyPr/>
                    <a:lstStyle/>
                    <a:p>
                      <a:pPr indent="0" marL="0">
                        <a:buNone/>
                      </a:pPr>
                      <a:r>
                        <a:rPr lang="en-US" sz="1400" b="1" dirty="0">
                          <a:solidFill>
                            <a:srgbClr val="FFC20E"/>
                          </a:solidFill>
                          <a:latin typeface="+mn-lt" pitchFamily="34" charset="0"/>
                          <a:ea typeface="+mn-lt" pitchFamily="34" charset="-122"/>
                          <a:cs typeface="+mn-lt" pitchFamily="34" charset="-120"/>
                        </a:rPr>
                        <a:t>Salir de este escáner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c>
                  <a:txBody>
                    <a:bodyPr/>
                    <a:lstStyle/>
                    <a:p>
                      <a:pPr indent="0" marL="0">
                        <a:buNone/>
                      </a:pPr>
                      <a:r>
                        <a:rPr lang="en-US" sz="1400" dirty="0">
                          <a:solidFill>
                            <a:srgbClr val="D8E3EF"/>
                          </a:solidFill>
                          <a:latin typeface="+mn-lt" pitchFamily="34" charset="0"/>
                          <a:ea typeface="+mn-lt" pitchFamily="34" charset="-122"/>
                          <a:cs typeface="+mn-lt" pitchFamily="34" charset="-120"/>
                        </a:rPr>
                        <a:t>Descanso o fin de turno. Cargador</a:t>
                      </a:r>
                      <a:endParaRPr lang="en-US" sz="1400" dirty="0">
                        <a:latin typeface="+mn-lt" charset="0"/>
                        <a:ea typeface="+mn-lt" charset="0"/>
                        <a:cs typeface="+mn-lt" charset="0"/>
                      </a:endParaRPr>
                    </a:p>
                  </a:txBody>
                  <a:tcPr marL="54864" marR="54864" marT="54864" marB="54864">
                    <a:lnL w="12700" cap="flat" cmpd="sng" algn="ctr">
                      <a:solidFill>
                        <a:srgbClr val="0A1018"/>
                      </a:solidFill>
                      <a:prstDash val="solid"/>
                      <a:round/>
                      <a:headEnd type="none" w="med" len="med"/>
                      <a:tailEnd type="none" w="med" len="med"/>
                    </a:lnL>
                    <a:lnR w="12700" cap="flat" cmpd="sng" algn="ctr">
                      <a:solidFill>
                        <a:srgbClr val="0A1018"/>
                      </a:solidFill>
                      <a:prstDash val="solid"/>
                      <a:round/>
                      <a:headEnd type="none" w="med" len="med"/>
                      <a:tailEnd type="none" w="med" len="med"/>
                    </a:lnR>
                    <a:lnT w="12700" cap="flat" cmpd="sng" algn="ctr">
                      <a:solidFill>
                        <a:srgbClr val="0A1018"/>
                      </a:solidFill>
                      <a:prstDash val="solid"/>
                      <a:round/>
                      <a:headEnd type="none" w="med" len="med"/>
                      <a:tailEnd type="none" w="med" len="med"/>
                    </a:lnT>
                    <a:lnB w="12700" cap="flat" cmpd="sng" algn="ctr">
                      <a:solidFill>
                        <a:srgbClr val="0A1018"/>
                      </a:solidFill>
                      <a:prstDash val="solid"/>
                      <a:round/>
                      <a:headEnd type="none" w="med" len="med"/>
                      <a:tailEnd type="none" w="med" len="med"/>
                    </a:lnB>
                    <a:solidFill>
                      <a:srgbClr val="18293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2B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10515600" cy="457200"/>
          </a:xfrm>
          <a:prstGeom prst="rect">
            <a:avLst/>
          </a:prstGeom>
          <a:noFill/>
          <a:ln/>
        </p:spPr>
        <p:txBody>
          <a:bodyPr wrap="square" lIns="0" tIns="0" rIns="0" bIns="0" rtlCol="0"/>
          <a:lstStyle/>
          <a:p>
            <a:pPr indent="0" marL="0">
              <a:buNone/>
            </a:pPr>
            <a:r>
              <a:rPr lang="en-US" sz="1600" b="1" spc="400" kern="0" dirty="0">
                <a:solidFill>
                  <a:schemeClr val="accent1"/>
                </a:solidFill>
              </a:rPr>
              <a:t>Ese es el trabajo</a:t>
            </a:r>
            <a:endParaRPr lang="en-US" sz="1600" dirty="0"/>
          </a:p>
        </p:txBody>
      </p:sp>
      <p:sp>
        <p:nvSpPr>
          <p:cNvPr id="3" name="Text 0"/>
          <p:cNvSpPr/>
          <p:nvPr>
            <p:ph idx="101" type="title" hasCustomPrompt="1"/>
          </p:nvPr>
        </p:nvSpPr>
        <p:spPr>
          <a:xfrm>
            <a:off x="822960" y="2286000"/>
            <a:ext cx="10515600" cy="1645920"/>
          </a:xfrm>
          <a:prstGeom prst="rect">
            <a:avLst/>
          </a:prstGeom>
          <a:noFill/>
          <a:ln/>
        </p:spPr>
        <p:txBody>
          <a:bodyPr wrap="square" lIns="0" tIns="0" rIns="0" bIns="0" rtlCol="0" anchor="t"/>
          <a:lstStyle/>
          <a:p>
            <a:pPr algn="l" indent="0" marL="0">
              <a:buNone/>
            </a:pPr>
            <a:r>
              <a:rPr lang="en-US" sz="5400" b="1" dirty="0">
                <a:solidFill>
                  <a:schemeClr val="bg1"/>
                </a:solidFill>
              </a:rPr>
              <a:t>Rack · Tarima · Cantidad</a:t>
            </a:r>
            <a:endParaRPr lang="en-US" sz="5400" dirty="0"/>
          </a:p>
        </p:txBody>
      </p:sp>
      <p:sp>
        <p:nvSpPr>
          <p:cNvPr id="4" name="Text 0"/>
          <p:cNvSpPr/>
          <p:nvPr>
            <p:ph idx="102" type="body" hasCustomPrompt="1"/>
          </p:nvPr>
        </p:nvSpPr>
        <p:spPr>
          <a:xfrm>
            <a:off x="822960" y="4114800"/>
            <a:ext cx="9601200" cy="1463040"/>
          </a:xfrm>
          <a:prstGeom prst="rect">
            <a:avLst/>
          </a:prstGeom>
          <a:noFill/>
          <a:ln/>
        </p:spPr>
        <p:txBody>
          <a:bodyPr wrap="square" lIns="0" tIns="0" rIns="0" bIns="0" rtlCol="0" anchor="t"/>
          <a:lstStyle/>
          <a:p>
            <a:pPr indent="0" marL="0">
              <a:buNone/>
            </a:pPr>
            <a:r>
              <a:rPr lang="en-US" sz="2400" dirty="0">
                <a:solidFill>
                  <a:schemeClr val="bg2"/>
                </a:solidFill>
              </a:rPr>
              <a:t>Cuenta lo que de verdad hay. Nunca te saltes una tarima.</a:t>
            </a:r>
            <a:endParaRPr lang="en-US" sz="2400" dirty="0"/>
          </a:p>
          <a:p>
            <a:pPr indent="0" marL="0">
              <a:buNone/>
            </a:pPr>
            <a:r>
              <a:rPr lang="en-US" sz="2400" dirty="0">
                <a:solidFill>
                  <a:schemeClr val="bg2"/>
                </a:solidFill>
              </a:rPr>
              <a:t>¿Dudas? Pregunta a tu líder — o toca SOS si necesitas ayuda ya.</a:t>
            </a:r>
            <a:endParaRPr lang="en-US" sz="2400" dirty="0"/>
          </a:p>
        </p:txBody>
      </p:sp>
    </p:spTree>
  </p:cSld>
  <p:clrMapOvr>
    <a:masterClrMapping/>
  </p:clrMapOvr>
</p:sld>
</file>

<file path=ppt/theme/theme1.xml><?xml version="1.0" encoding="utf-8"?>
<a:theme xmlns:a="http://schemas.openxmlformats.org/drawingml/2006/main" name="Full Harvest crew">
  <a:themeElements>
    <a:clrScheme name="Full Harvest crew">
      <a:dk1>
        <a:srgbClr val="0A1018"/>
      </a:dk1>
      <a:lt1>
        <a:srgbClr val="FFFFFF"/>
      </a:lt1>
      <a:dk2>
        <a:srgbClr val="18293F"/>
      </a:dk2>
      <a:lt2>
        <a:srgbClr val="D8E3EF"/>
      </a:lt2>
      <a:accent1>
        <a:srgbClr val="FFC20E"/>
      </a:accent1>
      <a:accent2>
        <a:srgbClr val="3FCF68"/>
      </a:accent2>
      <a:accent3>
        <a:srgbClr val="FF5A5F"/>
      </a:accent3>
      <a:accent4>
        <a:srgbClr val="4C9DFF"/>
      </a:accent4>
      <a:accent5>
        <a:srgbClr val="8FA2B8"/>
      </a:accent5>
      <a:accent6>
        <a:srgbClr val="B98A52"/>
      </a:accent6>
      <a:hlink>
        <a:srgbClr val="FFC20E"/>
      </a:hlink>
      <a:folHlink>
        <a:srgbClr val="B98A52"/>
      </a:folHlink>
    </a:clrScheme>
    <a:fontScheme name="Full Harvest cr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contar con el escáner</dc:title>
  <dc:subject>PptxGenJS Presentation</dc:subject>
  <dc:creator>Full Harvest Inventory</dc:creator>
  <cp:lastModifiedBy>Full Harvest Inventory</cp:lastModifiedBy>
  <cp:revision>1</cp:revision>
  <dcterms:created xsi:type="dcterms:W3CDTF">2026-10-20T22:18:54Z</dcterms:created>
  <dcterms:modified xsi:type="dcterms:W3CDTF">2026-10-20T22:18:54Z</dcterms:modified>
</cp:coreProperties>
</file>