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c13ad500-6f40-f93a-37bc-cab53c127dda}">
          <p14:sldIdLst>
            <p14:sldId id="256"/>
          </p14:sldIdLst>
        </p14:section>
        <p14:section name="Part 1 · Before you start" id="{86233ead-3660-c4b1-6eff-e9acb494adaf}">
          <p14:sldIdLst>
            <p14:sldId id="257"/>
            <p14:sldId id="258"/>
            <p14:sldId id="259"/>
          </p14:sldIdLst>
        </p14:section>
        <p14:section name="Part 2 · Signing on" id="{04b1d7ae-00d9-b809-594b-f1ce3c38f13c}">
          <p14:sldIdLst>
            <p14:sldId id="260"/>
            <p14:sldId id="261"/>
            <p14:sldId id="262"/>
          </p14:sldIdLst>
        </p14:section>
        <p14:section name="Part 3 · Counting a pallet" id="{ad081d7d-91da-986f-a3b9-cca252e8e416}">
          <p14:sldIdLst>
            <p14:sldId id="263"/>
            <p14:sldId id="264"/>
            <p14:sldId id="265"/>
            <p14:sldId id="266"/>
            <p14:sldId id="267"/>
            <p14:sldId id="268"/>
            <p14:sldId id="269"/>
          </p14:sldIdLst>
        </p14:section>
        <p14:section name="Part 4 · When a bin is different" id="{934ad0a2-40e3-c1b5-c7c5-844c3469d697}">
          <p14:sldIdLst>
            <p14:sldId id="270"/>
            <p14:sldId id="271"/>
            <p14:sldId id="272"/>
          </p14:sldIdLst>
        </p14:section>
        <p14:section name="Part 5 · Labels" id="{166ddce5-7c51-2538-ec00-d888f036924e}">
          <p14:sldIdLst>
            <p14:sldId id="273"/>
            <p14:sldId id="274"/>
            <p14:sldId id="275"/>
            <p14:sldId id="276"/>
            <p14:sldId id="277"/>
          </p14:sldIdLst>
        </p14:section>
        <p14:section name="Part 6 · Help and fixes" id="{f19e7d20-7d53-724f-b22a-f28dc6075af5}">
          <p14:sldIdLst>
            <p14:sldId id="278"/>
            <p14:sldId id="279"/>
            <p14:sldId id="280"/>
            <p14:sldId id="281"/>
            <p14:sldId id="282"/>
            <p14:sldId id="283"/>
          </p14:sldIdLst>
        </p14:section>
        <p14:section name="Part 7 · Second counts, and finishing" id="{72f11aec-8b30-3509-1c0e-5a0adc611557}">
          <p14:sldIdLst>
            <p14:sldId id="284"/>
            <p14:sldId id="285"/>
            <p14:sldId id="286"/>
          </p14:sldIdLst>
        </p14:section>
        <p14:section name="The rules" id="{6e166927-c27c-ad91-2571-461d2a6af3b2}">
          <p14:sldIdLst>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you learn the scanner. The job is three steps, over and over: scan the rack label, scan the pallet label, type how many cases are really there. Everything else is the scanner helping you when something is unusual. The film shows the same steps slowly; these slides are the same lesson to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scanner, its buttons, and your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up a scanner. Show the trigger, the number keys and the screen. The screen in the middle of every slide is the real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 Español once; tap English to go back. Nothing else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team card, your badges, and your aisle.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team has a printed card with a QR code. Scan it where it says Team number. Then each person scans their own badge. Tap a number on the screen to remove it if it is wrong. Then Sign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aisle is chosen by the office. You never pick one. If the screen says the aisle is still being counted by another team, wait: it starts by itself when the racking is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over and over: the rack, the pallet, the quantity.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Next bin box. Explain the code: F01 is the aisle, A the level, 001 the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 rack label. It is on the beam under the pallet. Scan the one for the spot you are counting, not the one next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 real pallet label. The barcode is what the scanner reads. The scanner says Pallet F01-001 and nothing about what is on it: that is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step that matters. If the pallet says 48 and you count 45, type 45. The office works out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pallets need no comment. Do not stop to type notes; tap a reason only when something is wrong with the pallet.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bad happens from a wrong scan. Read the message and scan the right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pallets in one spot, and an empty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spot with three pallets is normal in the freezer. The orange box keeps you there until every pallet is counted.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empty spot that is not recorded looks like a spot nobody reached. Always record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labels on one pallet, a label that will not scan, and a pallet nobody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pallets carry two loads, each with its own label. Each label gets its own quantity. The rack is scanned once, before the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scanner keeps the same spot, so you do not scan the rack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nothing on the label can be read, tap Nothing readable on it: the pallet is still counted, under its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 stock is never lost: the office sees it and adds it to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Mistakes, messages, no Wi-Fi, problems, and the SOS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Void only your own wrong line. The office keeps a record that it was 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red message is urgent. Nothing is blocked: you can keep scanning under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next to OFFLINE is how many lines are waiting. They send by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Report a problem for things that need fixing later. Use SOS for help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it for real emergencies. The office gets a loud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Counting a spot again, handing the aisle back, and signing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second count is blind too. Count what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crew signs on with their own card and badges.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five rules out loud. Then hand out the scanners and start the practice at the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slide for the break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then the practice at the desk with the test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A1018"/>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10515600" cy="457200"/>
          </a:xfrm>
          <a:prstGeom prst="rect">
            <a:avLst/>
          </a:prstGeom>
          <a:noFill/>
          <a:ln/>
        </p:spPr>
        <p:txBody>
          <a:bodyPr wrap="square" rtlCol="0"/>
          <a:lstStyle>
            <a:lvl1pPr indent="0" marL="0">
              <a:buNone/>
              <a:defRPr lang="en-US" sz="1600" b="1" spc="400" kern="0" dirty="0">
                <a:solidFill>
                  <a:schemeClr val="accent1"/>
                </a:solidFill>
              </a:defRPr>
            </a:lvl1pPr>
          </a:lstStyle>
          <a:p>
            <a:pPr indent="0" marL="0">
              <a:buNone/>
            </a:pPr>
            <a:endParaRPr lang="en-US" sz="1600" dirty="0"/>
          </a:p>
        </p:txBody>
      </p:sp>
      <p:sp>
        <p:nvSpPr>
          <p:cNvPr id="3" name="Text 0"/>
          <p:cNvSpPr/>
          <p:nvPr>
            <p:ph idx="101" type="title" hasCustomPrompt="1"/>
          </p:nvPr>
        </p:nvSpPr>
        <p:spPr>
          <a:xfrm>
            <a:off x="822960" y="2286000"/>
            <a:ext cx="10515600" cy="16459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822960" y="4114800"/>
            <a:ext cx="9601200" cy="1463040"/>
          </a:xfrm>
          <a:prstGeom prst="rect">
            <a:avLst/>
          </a:prstGeom>
          <a:noFill/>
          <a:ln/>
        </p:spPr>
        <p:txBody>
          <a:bodyPr wrap="square" rtlCol="0"/>
          <a:lstStyle>
            <a:lvl1pPr indent="0" marL="0">
              <a:buNone/>
              <a:defRPr lang="en-US" sz="2400" dirty="0">
                <a:solidFill>
                  <a:schemeClr val="bg2"/>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rt">
    <p:bg>
      <p:bgPr>
        <a:solidFill>
          <a:srgbClr val="18293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rtlCol="0"/>
          <a:lstStyle>
            <a:lvl1pPr indent="0" marL="0">
              <a:buNone/>
              <a:defRPr lang="en-US" sz="1800" b="1" spc="400" kern="0" dirty="0">
                <a:solidFill>
                  <a:schemeClr val="accent1"/>
                </a:solidFill>
              </a:defRPr>
            </a:lvl1pPr>
          </a:lstStyle>
          <a:p>
            <a:pPr indent="0" marL="0">
              <a:buNone/>
            </a:pP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rtlCol="0"/>
          <a:lstStyle>
            <a:lvl1pPr indent="0" marL="0">
              <a:buNone/>
              <a:defRPr lang="en-US" sz="2400" dirty="0">
                <a:solidFill>
                  <a:schemeClr val="bg2"/>
                </a:solidFill>
              </a:defRPr>
            </a:lvl1pPr>
          </a:lstStyle>
          <a:p>
            <a:pPr indent="0" marL="0">
              <a:buNone/>
            </a:pPr>
            <a:endParaRPr lang="en-US" sz="2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0A1018"/>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Full Harvest Inventory · Day 1 · the counting crew</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4.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4.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10515600" cy="457200"/>
          </a:xfrm>
          <a:prstGeom prst="rect">
            <a:avLst/>
          </a:prstGeom>
          <a:noFill/>
          <a:ln/>
        </p:spPr>
        <p:txBody>
          <a:bodyPr wrap="square" lIns="0" tIns="0" rIns="0" bIns="0" rtlCol="0"/>
          <a:lstStyle/>
          <a:p>
            <a:pPr indent="0" marL="0">
              <a:buNone/>
            </a:pPr>
            <a:r>
              <a:rPr lang="en-US" sz="1600" b="1" spc="400" kern="0" dirty="0">
                <a:solidFill>
                  <a:schemeClr val="accent1"/>
                </a:solidFill>
              </a:rPr>
              <a:t>Day 1 · Counting crew</a:t>
            </a:r>
            <a:endParaRPr lang="en-US" sz="1600" dirty="0"/>
          </a:p>
        </p:txBody>
      </p:sp>
      <p:sp>
        <p:nvSpPr>
          <p:cNvPr id="3" name="Text 0"/>
          <p:cNvSpPr/>
          <p:nvPr>
            <p:ph idx="101" type="title" hasCustomPrompt="1"/>
          </p:nvPr>
        </p:nvSpPr>
        <p:spPr>
          <a:xfrm>
            <a:off x="822960" y="2286000"/>
            <a:ext cx="10515600" cy="1645920"/>
          </a:xfrm>
          <a:prstGeom prst="rect">
            <a:avLst/>
          </a:prstGeom>
          <a:noFill/>
          <a:ln/>
        </p:spPr>
        <p:txBody>
          <a:bodyPr wrap="square" lIns="0" tIns="0" rIns="0" bIns="0" rtlCol="0" anchor="t"/>
          <a:lstStyle/>
          <a:p>
            <a:pPr algn="l" indent="0" marL="0">
              <a:buNone/>
            </a:pPr>
            <a:r>
              <a:rPr lang="en-US" sz="5400" b="1" dirty="0">
                <a:solidFill>
                  <a:schemeClr val="bg1"/>
                </a:solidFill>
              </a:rPr>
              <a:t>How to count with the scanner</a:t>
            </a:r>
            <a:endParaRPr lang="en-US" sz="5400" dirty="0"/>
          </a:p>
        </p:txBody>
      </p:sp>
      <p:sp>
        <p:nvSpPr>
          <p:cNvPr id="4" name="Text 0"/>
          <p:cNvSpPr/>
          <p:nvPr>
            <p:ph idx="102" type="body" hasCustomPrompt="1"/>
          </p:nvPr>
        </p:nvSpPr>
        <p:spPr>
          <a:xfrm>
            <a:off x="822960" y="4114800"/>
            <a:ext cx="9601200" cy="1463040"/>
          </a:xfrm>
          <a:prstGeom prst="rect">
            <a:avLst/>
          </a:prstGeom>
          <a:noFill/>
          <a:ln/>
        </p:spPr>
        <p:txBody>
          <a:bodyPr wrap="square" lIns="0" tIns="0" rIns="0" bIns="0" rtlCol="0" anchor="t"/>
          <a:lstStyle/>
          <a:p>
            <a:pPr indent="0" marL="0">
              <a:buNone/>
            </a:pPr>
            <a:r>
              <a:rPr lang="en-US" sz="2400" dirty="0">
                <a:solidFill>
                  <a:schemeClr val="bg2"/>
                </a:solidFill>
              </a:rPr>
              <a:t>Scan the rack. Scan the pallet. Type what is there.</a:t>
            </a:r>
            <a:endParaRPr lang="en-US" sz="2400" dirty="0"/>
          </a:p>
          <a:p>
            <a:pPr indent="0" marL="0">
              <a:buNone/>
            </a:pPr>
            <a:r>
              <a:rPr lang="en-US" sz="2400" dirty="0">
                <a:solidFill>
                  <a:schemeClr val="bg2"/>
                </a:solidFill>
              </a:rPr>
              <a:t>That is the whole job — these slides show every step.</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 1</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Before you start</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The scanner, its buttons, and your language.</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1 · Before you start</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This is your scanner</a:t>
            </a:r>
            <a:endParaRPr lang="en-US" sz="3200" dirty="0"/>
          </a:p>
        </p:txBody>
      </p:sp>
      <p:pic>
        <p:nvPicPr>
          <p:cNvPr id="4" name="screen signon" descr="/home/user/physical-inv-app/docs/training/shots/en/01-signo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b="1" dirty="0">
                <a:solidFill>
                  <a:schemeClr val="bg2"/>
                </a:solidFill>
              </a:rPr>
              <a:t>The trigger</a:t>
            </a:r>
            <a:pPr algn="l" marL="228600" indent="-228600">
              <a:spcAft>
                <a:spcPts val="1000"/>
              </a:spcAft>
              <a:buSzPct val="100000"/>
              <a:buChar char="•"/>
            </a:pPr>
            <a:r>
              <a:rPr lang="en-US" sz="2200" dirty="0">
                <a:solidFill>
                  <a:schemeClr val="bg2"/>
                </a:solidFill>
              </a:rPr>
              <a:t> reads a barcode. Wait for the beep.</a:t>
            </a:r>
            <a:endParaRPr lang="en-US" sz="2200" dirty="0"/>
          </a:p>
          <a:p>
            <a:pPr algn="l" marL="228600" indent="-228600">
              <a:spcAft>
                <a:spcPts val="1000"/>
              </a:spcAft>
              <a:buSzPct val="100000"/>
              <a:buChar char="•"/>
            </a:pPr>
            <a:r>
              <a:rPr lang="en-US" sz="2200" b="1" dirty="0">
                <a:solidFill>
                  <a:schemeClr val="bg2"/>
                </a:solidFill>
              </a:rPr>
              <a:t>The number keys</a:t>
            </a:r>
            <a:pPr algn="l" marL="228600" indent="-228600">
              <a:spcAft>
                <a:spcPts val="1000"/>
              </a:spcAft>
              <a:buSzPct val="100000"/>
              <a:buChar char="•"/>
            </a:pPr>
            <a:r>
              <a:rPr lang="en-US" sz="2200" dirty="0">
                <a:solidFill>
                  <a:schemeClr val="bg2"/>
                </a:solidFill>
              </a:rPr>
              <a:t> type a quantity, then Enter.</a:t>
            </a:r>
            <a:endParaRPr lang="en-US" sz="2200" dirty="0"/>
          </a:p>
          <a:p>
            <a:pPr algn="l" marL="228600" indent="-228600">
              <a:spcAft>
                <a:spcPts val="1000"/>
              </a:spcAft>
              <a:buSzPct val="100000"/>
              <a:buChar char="•"/>
            </a:pPr>
            <a:r>
              <a:rPr lang="en-US" sz="2200" b="1" dirty="0">
                <a:solidFill>
                  <a:schemeClr val="bg2"/>
                </a:solidFill>
              </a:rPr>
              <a:t>The screen</a:t>
            </a:r>
            <a:pPr algn="l" marL="228600" indent="-228600">
              <a:spcAft>
                <a:spcPts val="1000"/>
              </a:spcAft>
              <a:buSzPct val="100000"/>
              <a:buChar char="•"/>
            </a:pPr>
            <a:r>
              <a:rPr lang="en-US" sz="2200" dirty="0">
                <a:solidFill>
                  <a:schemeClr val="bg2"/>
                </a:solidFill>
              </a:rPr>
              <a:t> asks one thing at a time, in big letters. Read the top, do what it says.</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Rack · Pallet · Quantity — over and over</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1 · Before you start</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English or Spanish</a:t>
            </a:r>
            <a:endParaRPr lang="en-US" sz="3200" dirty="0"/>
          </a:p>
        </p:txBody>
      </p:sp>
      <p:pic>
        <p:nvPicPr>
          <p:cNvPr id="4" name="screen signon" descr="/home/user/physical-inv-app/docs/training/shots/en/01-signo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The </a:t>
            </a:r>
            <a:pPr algn="l" marL="228600" indent="-228600">
              <a:spcAft>
                <a:spcPts val="1000"/>
              </a:spcAft>
              <a:buSzPct val="100000"/>
              <a:buChar char="•"/>
            </a:pPr>
            <a:r>
              <a:rPr lang="en-US" sz="2200" b="1" dirty="0">
                <a:solidFill>
                  <a:schemeClr val="bg2"/>
                </a:solidFill>
              </a:rPr>
              <a:t>Español</a:t>
            </a:r>
            <a:pPr algn="l" marL="228600" indent="-228600">
              <a:spcAft>
                <a:spcPts val="1000"/>
              </a:spcAft>
              <a:buSzPct val="100000"/>
              <a:buChar char="•"/>
            </a:pPr>
            <a:r>
              <a:rPr lang="en-US" sz="2200" dirty="0">
                <a:solidFill>
                  <a:schemeClr val="bg2"/>
                </a:solidFill>
              </a:rPr>
              <a:t> button at the top right switches the whole screen to Spanish.</a:t>
            </a:r>
            <a:endParaRPr lang="en-US" sz="2200" dirty="0"/>
          </a:p>
          <a:p>
            <a:pPr algn="l" marL="228600" indent="-228600">
              <a:spcAft>
                <a:spcPts val="1000"/>
              </a:spcAft>
              <a:buSzPct val="100000"/>
              <a:buChar char="•"/>
            </a:pPr>
            <a:r>
              <a:rPr lang="en-US" sz="2200" dirty="0">
                <a:solidFill>
                  <a:schemeClr val="bg2"/>
                </a:solidFill>
              </a:rPr>
              <a:t>It stays that way on this scanner until somebody switches it back.</a:t>
            </a:r>
            <a:endParaRPr lang="en-US" sz="2200" dirty="0"/>
          </a:p>
          <a:p>
            <a:pPr algn="l" marL="228600" indent="-228600">
              <a:spcAft>
                <a:spcPts val="1000"/>
              </a:spcAft>
              <a:buSzPct val="100000"/>
              <a:buChar char="•"/>
            </a:pPr>
            <a:r>
              <a:rPr lang="en-US" sz="2200" dirty="0">
                <a:solidFill>
                  <a:schemeClr val="bg2"/>
                </a:solidFill>
              </a:rPr>
              <a:t>The office always reads English, whichever you use.</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 2</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Signing on</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Your team card, your badges, and your aisle.</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2 · Signing on</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The team card, then every badge</a:t>
            </a:r>
            <a:endParaRPr lang="en-US" sz="3200" dirty="0"/>
          </a:p>
        </p:txBody>
      </p:sp>
      <p:pic>
        <p:nvPicPr>
          <p:cNvPr id="4" name="screen signon-filled" descr="/home/user/physical-inv-app/docs/training/shots/en/02-signon-filled.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2651760"/>
          </a:xfrm>
          <a:prstGeom prst="rect">
            <a:avLst/>
          </a:prstGeom>
          <a:noFill/>
          <a:ln/>
        </p:spPr>
        <p:txBody>
          <a:bodyPr wrap="square" lIns="0" tIns="0" rIns="0" bIns="0" rtlCol="0" anchor="t"/>
          <a:lstStyle/>
          <a:p>
            <a:pPr algn="l" marL="228600" indent="-228600">
              <a:spcAft>
                <a:spcPts val="1000"/>
              </a:spcAft>
              <a:buSzPct val="100000"/>
              <a:buChar char="•"/>
            </a:pPr>
            <a:r>
              <a:rPr lang="en-US" sz="2200" b="1" dirty="0">
                <a:solidFill>
                  <a:schemeClr val="bg2"/>
                </a:solidFill>
              </a:rPr>
              <a:t>1 · </a:t>
            </a:r>
            <a:pPr algn="l" marL="228600" indent="-228600">
              <a:spcAft>
                <a:spcPts val="1000"/>
              </a:spcAft>
              <a:buSzPct val="100000"/>
              <a:buChar char="•"/>
            </a:pPr>
            <a:r>
              <a:rPr lang="en-US" sz="2200" dirty="0">
                <a:solidFill>
                  <a:schemeClr val="bg2"/>
                </a:solidFill>
              </a:rPr>
              <a:t>Scan the team’s QR card into </a:t>
            </a:r>
            <a:pPr algn="l" marL="228600" indent="-228600">
              <a:spcAft>
                <a:spcPts val="1000"/>
              </a:spcAft>
              <a:buSzPct val="100000"/>
              <a:buChar char="•"/>
            </a:pPr>
            <a:r>
              <a:rPr lang="en-US" sz="2200" b="1" dirty="0">
                <a:solidFill>
                  <a:schemeClr val="bg2"/>
                </a:solidFill>
              </a:rPr>
              <a:t>Team number</a:t>
            </a:r>
            <a:pPr algn="l" marL="228600" indent="-228600">
              <a:spcAft>
                <a:spcPts val="1000"/>
              </a:spcAft>
              <a:buSzPct val="100000"/>
              <a:buChar char="•"/>
            </a:pPr>
            <a:r>
              <a:rPr lang="en-US" sz="2200" dirty="0">
                <a:solidFill>
                  <a:schemeClr val="bg2"/>
                </a:solidFill>
              </a:rPr>
              <a:t>. No typing.</a:t>
            </a:r>
            <a:endParaRPr lang="en-US" sz="2200" dirty="0"/>
          </a:p>
          <a:p>
            <a:pPr algn="l" marL="228600" indent="-228600">
              <a:spcAft>
                <a:spcPts val="1000"/>
              </a:spcAft>
              <a:buSzPct val="100000"/>
              <a:buChar char="•"/>
            </a:pPr>
            <a:r>
              <a:rPr lang="en-US" sz="2200" b="1" dirty="0">
                <a:solidFill>
                  <a:schemeClr val="bg2"/>
                </a:solidFill>
              </a:rPr>
              <a:t>2 · </a:t>
            </a:r>
            <a:pPr algn="l" marL="228600" indent="-228600">
              <a:spcAft>
                <a:spcPts val="1000"/>
              </a:spcAft>
              <a:buSzPct val="100000"/>
              <a:buChar char="•"/>
            </a:pPr>
            <a:r>
              <a:rPr lang="en-US" sz="2200" dirty="0">
                <a:solidFill>
                  <a:schemeClr val="bg2"/>
                </a:solidFill>
              </a:rPr>
              <a:t>Everybody on the crew scans their </a:t>
            </a:r>
            <a:pPr algn="l" marL="228600" indent="-228600">
              <a:spcAft>
                <a:spcPts val="1000"/>
              </a:spcAft>
              <a:buSzPct val="100000"/>
              <a:buChar char="•"/>
            </a:pPr>
            <a:r>
              <a:rPr lang="en-US" sz="2200" b="1" dirty="0">
                <a:solidFill>
                  <a:schemeClr val="bg2"/>
                </a:solidFill>
              </a:rPr>
              <a:t>badge</a:t>
            </a:r>
            <a:pPr algn="l" marL="228600" indent="-228600">
              <a:spcAft>
                <a:spcPts val="1000"/>
              </a:spcAft>
              <a:buSzPct val="100000"/>
              <a:buChar char="•"/>
            </a:pPr>
            <a:r>
              <a:rPr lang="en-US" sz="2200" dirty="0">
                <a:solidFill>
                  <a:schemeClr val="bg2"/>
                </a:solidFill>
              </a:rPr>
              <a:t>. Each name shows on the screen.</a:t>
            </a:r>
            <a:endParaRPr lang="en-US" sz="2200" dirty="0"/>
          </a:p>
          <a:p>
            <a:pPr algn="l" marL="228600" indent="-228600">
              <a:spcAft>
                <a:spcPts val="1000"/>
              </a:spcAft>
              <a:buSzPct val="100000"/>
              <a:buChar char="•"/>
            </a:pPr>
            <a:r>
              <a:rPr lang="en-US" sz="2200" b="1" dirty="0">
                <a:solidFill>
                  <a:schemeClr val="bg2"/>
                </a:solidFill>
              </a:rPr>
              <a:t>3 · </a:t>
            </a:r>
            <a:pPr algn="l" marL="228600" indent="-228600">
              <a:spcAft>
                <a:spcPts val="1000"/>
              </a:spcAft>
              <a:buSzPct val="100000"/>
              <a:buChar char="•"/>
            </a:pPr>
            <a:r>
              <a:rPr lang="en-US" sz="2200" dirty="0">
                <a:solidFill>
                  <a:schemeClr val="bg2"/>
                </a:solidFill>
              </a:rPr>
              <a:t>Tap </a:t>
            </a:r>
            <a:pPr algn="l" marL="228600" indent="-228600">
              <a:spcAft>
                <a:spcPts val="1000"/>
              </a:spcAft>
              <a:buSzPct val="100000"/>
              <a:buChar char="•"/>
            </a:pPr>
            <a:r>
              <a:rPr lang="en-US" sz="2200" b="1" dirty="0">
                <a:solidFill>
                  <a:schemeClr val="bg2"/>
                </a:solidFill>
              </a:rPr>
              <a:t>Sign on &amp; load list</a:t>
            </a:r>
            <a:pPr algn="l" marL="228600" indent="-228600">
              <a:spcAft>
                <a:spcPts val="1000"/>
              </a:spcAft>
              <a:buSzPct val="100000"/>
              <a:buChar char="•"/>
            </a:pPr>
            <a:r>
              <a:rPr lang="en-US" sz="2200" dirty="0">
                <a:solidFill>
                  <a:schemeClr val="bg2"/>
                </a:solidFill>
              </a:rPr>
              <a:t>. The scanner downloads the count and keeps working with no Wi-Fi.</a:t>
            </a:r>
            <a:endParaRPr lang="en-US" sz="2200" dirty="0"/>
          </a:p>
        </p:txBody>
      </p:sp>
      <p:pic>
        <p:nvPicPr>
          <p:cNvPr id="6" name="label-team" descr="/home/user/physical-inv-app/docs/training/shots/en/label-team.png">    </p:cNvPr>
          <p:cNvPicPr>
            <a:picLocks noChangeAspect="1"/>
          </p:cNvPicPr>
          <p:nvPr/>
        </p:nvPicPr>
        <p:blipFill>
          <a:blip r:embed="rId2"/>
          <a:stretch>
            <a:fillRect/>
          </a:stretch>
        </p:blipFill>
        <p:spPr>
          <a:xfrm>
            <a:off x="548640" y="4526280"/>
            <a:ext cx="1463040" cy="1691640"/>
          </a:xfrm>
          <a:prstGeom prst="rect">
            <a:avLst/>
          </a:prstGeom>
        </p:spPr>
      </p:pic>
      <p:pic>
        <p:nvPicPr>
          <p:cNvPr id="7" name="label-badge" descr="/home/user/physical-inv-app/docs/training/shots/en/label-badge.png">    </p:cNvPr>
          <p:cNvPicPr>
            <a:picLocks noChangeAspect="1"/>
          </p:cNvPicPr>
          <p:nvPr/>
        </p:nvPicPr>
        <p:blipFill>
          <a:blip r:embed="rId3"/>
          <a:stretch>
            <a:fillRect/>
          </a:stretch>
        </p:blipFill>
        <p:spPr>
          <a:xfrm>
            <a:off x="2286000" y="4526280"/>
            <a:ext cx="1463040" cy="137160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2 · Signing on</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Your aisle</a:t>
            </a:r>
            <a:endParaRPr lang="en-US" sz="3200" dirty="0"/>
          </a:p>
        </p:txBody>
      </p:sp>
      <p:pic>
        <p:nvPicPr>
          <p:cNvPr id="4" name="screen your-aisle" descr="/home/user/physical-inv-app/docs/training/shots/en/03-your-aisle.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The scanner gives your team its aisle and the levels you count.</a:t>
            </a:r>
            <a:endParaRPr lang="en-US" sz="2200" dirty="0"/>
          </a:p>
          <a:p>
            <a:pPr algn="l" marL="228600" indent="-228600">
              <a:spcAft>
                <a:spcPts val="1000"/>
              </a:spcAft>
              <a:buSzPct val="100000"/>
              <a:buChar char="•"/>
            </a:pPr>
            <a:r>
              <a:rPr lang="en-US" sz="2200" dirty="0">
                <a:solidFill>
                  <a:schemeClr val="bg2"/>
                </a:solidFill>
              </a:rPr>
              <a:t>Only your team works this aisle right now.</a:t>
            </a:r>
            <a:endParaRPr lang="en-US" sz="2200" dirty="0"/>
          </a:p>
          <a:p>
            <a:pPr algn="l" marL="228600" indent="-228600">
              <a:spcAft>
                <a:spcPts val="1000"/>
              </a:spcAft>
              <a:buSzPct val="100000"/>
              <a:buChar char="•"/>
            </a:pPr>
            <a:r>
              <a:rPr lang="en-US" sz="2200" dirty="0">
                <a:solidFill>
                  <a:schemeClr val="bg2"/>
                </a:solidFill>
              </a:rPr>
              <a:t>When you are at the aisle, tap </a:t>
            </a:r>
            <a:pPr algn="l" marL="228600" indent="-228600">
              <a:spcAft>
                <a:spcPts val="1000"/>
              </a:spcAft>
              <a:buSzPct val="100000"/>
              <a:buChar char="•"/>
            </a:pPr>
            <a:r>
              <a:rPr lang="en-US" sz="2200" b="1" dirty="0">
                <a:solidFill>
                  <a:schemeClr val="bg2"/>
                </a:solidFill>
              </a:rPr>
              <a:t>Start counting</a:t>
            </a:r>
            <a:pPr algn="l" marL="228600" indent="-228600">
              <a:spcAft>
                <a:spcPts val="1000"/>
              </a:spcAft>
              <a:buSzPct val="100000"/>
              <a:buChar char="•"/>
            </a:pPr>
            <a:r>
              <a:rPr lang="en-US" sz="2200" dirty="0">
                <a:solidFill>
                  <a:schemeClr val="bg2"/>
                </a:solidFill>
              </a:rPr>
              <a:t>.</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Aisle F01 · levels A–C</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 3</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Counting a pallet</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Three steps, over and over: the rack, the pallet, the quantity.</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3 · Counting a pallet</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Where to go next</a:t>
            </a:r>
            <a:endParaRPr lang="en-US" sz="3200" dirty="0"/>
          </a:p>
        </p:txBody>
      </p:sp>
      <p:pic>
        <p:nvPicPr>
          <p:cNvPr id="4" name="screen next-bin" descr="/home/user/physical-inv-app/docs/training/shots/en/04-next-bi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The box at the top says </a:t>
            </a:r>
            <a:pPr algn="l" marL="228600" indent="-228600">
              <a:spcAft>
                <a:spcPts val="1000"/>
              </a:spcAft>
              <a:buSzPct val="100000"/>
              <a:buChar char="•"/>
            </a:pPr>
            <a:r>
              <a:rPr lang="en-US" sz="2200" b="1" dirty="0">
                <a:solidFill>
                  <a:schemeClr val="bg2"/>
                </a:solidFill>
              </a:rPr>
              <a:t>Next bin</a:t>
            </a:r>
            <a:pPr algn="l" marL="228600" indent="-228600">
              <a:spcAft>
                <a:spcPts val="1000"/>
              </a:spcAft>
              <a:buSzPct val="100000"/>
              <a:buChar char="•"/>
            </a:pPr>
            <a:r>
              <a:rPr lang="en-US" sz="2200" dirty="0">
                <a:solidFill>
                  <a:schemeClr val="bg2"/>
                </a:solidFill>
              </a:rPr>
              <a:t> — the spot to go to.</a:t>
            </a:r>
            <a:endParaRPr lang="en-US" sz="2200" dirty="0"/>
          </a:p>
          <a:p>
            <a:pPr algn="l" marL="228600" indent="-228600">
              <a:spcAft>
                <a:spcPts val="1000"/>
              </a:spcAft>
              <a:buSzPct val="100000"/>
              <a:buChar char="•"/>
            </a:pPr>
            <a:r>
              <a:rPr lang="en-US" sz="2200" dirty="0">
                <a:solidFill>
                  <a:schemeClr val="bg2"/>
                </a:solidFill>
              </a:rPr>
              <a:t>It walks you down the aisle in order, so nothing is missed.</a:t>
            </a:r>
            <a:endParaRPr lang="en-US" sz="2200" dirty="0"/>
          </a:p>
          <a:p>
            <a:pPr algn="l" marL="228600" indent="-228600">
              <a:spcAft>
                <a:spcPts val="1000"/>
              </a:spcAft>
              <a:buSzPct val="100000"/>
              <a:buChar char="•"/>
            </a:pPr>
            <a:r>
              <a:rPr lang="en-US" sz="2200" dirty="0">
                <a:solidFill>
                  <a:schemeClr val="bg2"/>
                </a:solidFill>
              </a:rPr>
              <a:t>Follow it. Do not jump around the aisle.</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3 · Counting a pallet · Step 1</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1 · Scan the rack label</a:t>
            </a:r>
            <a:endParaRPr lang="en-US" sz="3200" dirty="0"/>
          </a:p>
        </p:txBody>
      </p:sp>
      <p:pic>
        <p:nvPicPr>
          <p:cNvPr id="4" name="screen rack-scanned" descr="/home/user/physical-inv-app/docs/training/shots/en/05-rack-scanned.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265176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Point the scanner at the yellow rack label under the pallet. Pull the trigger. Wait for the beep.</a:t>
            </a:r>
            <a:endParaRPr lang="en-US" sz="2200" dirty="0"/>
          </a:p>
          <a:p>
            <a:pPr algn="l" marL="228600" indent="-228600">
              <a:spcAft>
                <a:spcPts val="1000"/>
              </a:spcAft>
              <a:buSzPct val="100000"/>
              <a:buChar char="•"/>
            </a:pPr>
            <a:r>
              <a:rPr lang="en-US" sz="2200" dirty="0">
                <a:solidFill>
                  <a:schemeClr val="bg2"/>
                </a:solidFill>
              </a:rPr>
              <a:t>That tells the system where you are. The scanner checks it is in your aisle and on your levels.</a:t>
            </a:r>
            <a:endParaRPr lang="en-US" sz="2200" dirty="0"/>
          </a:p>
        </p:txBody>
      </p:sp>
      <p:pic>
        <p:nvPicPr>
          <p:cNvPr id="6" name="label-rack" descr="/home/user/physical-inv-app/docs/training/shots/en/label-rack.png">    </p:cNvPr>
          <p:cNvPicPr>
            <a:picLocks noChangeAspect="1"/>
          </p:cNvPicPr>
          <p:nvPr/>
        </p:nvPicPr>
        <p:blipFill>
          <a:blip r:embed="rId2"/>
          <a:stretch>
            <a:fillRect/>
          </a:stretch>
        </p:blipFill>
        <p:spPr>
          <a:xfrm>
            <a:off x="548640" y="4526280"/>
            <a:ext cx="2834640" cy="1243584"/>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3 · Counting a pallet · Step 2</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2 · Scan the pallet label</a:t>
            </a:r>
            <a:endParaRPr lang="en-US" sz="3200" dirty="0"/>
          </a:p>
        </p:txBody>
      </p:sp>
      <p:pic>
        <p:nvPicPr>
          <p:cNvPr id="4" name="screen pallet-scanned" descr="/home/user/physical-inv-app/docs/training/shots/en/06-pallet-scanned.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265176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Now the barcode on the pallet label. Wait for the beep.</a:t>
            </a:r>
            <a:endParaRPr lang="en-US" sz="2200" dirty="0"/>
          </a:p>
          <a:p>
            <a:pPr algn="l" marL="228600" indent="-228600">
              <a:spcAft>
                <a:spcPts val="1000"/>
              </a:spcAft>
              <a:buSzPct val="100000"/>
              <a:buChar char="•"/>
            </a:pPr>
            <a:r>
              <a:rPr lang="en-US" sz="2200" dirty="0">
                <a:solidFill>
                  <a:schemeClr val="bg2"/>
                </a:solidFill>
              </a:rPr>
              <a:t>The scanner shows the pallet number. It does </a:t>
            </a:r>
            <a:pPr algn="l" marL="228600" indent="-228600">
              <a:spcAft>
                <a:spcPts val="1000"/>
              </a:spcAft>
              <a:buSzPct val="100000"/>
              <a:buChar char="•"/>
            </a:pPr>
            <a:r>
              <a:rPr lang="en-US" sz="2200" b="1" dirty="0">
                <a:solidFill>
                  <a:schemeClr val="bg2"/>
                </a:solidFill>
              </a:rPr>
              <a:t>not</a:t>
            </a:r>
            <a:pPr algn="l" marL="228600" indent="-228600">
              <a:spcAft>
                <a:spcPts val="1000"/>
              </a:spcAft>
              <a:buSzPct val="100000"/>
              <a:buChar char="•"/>
            </a:pPr>
            <a:r>
              <a:rPr lang="en-US" sz="2200" dirty="0">
                <a:solidFill>
                  <a:schemeClr val="bg2"/>
                </a:solidFill>
              </a:rPr>
              <a:t> tell you how many should be there.</a:t>
            </a:r>
            <a:endParaRPr lang="en-US" sz="2200" dirty="0"/>
          </a:p>
        </p:txBody>
      </p:sp>
      <p:pic>
        <p:nvPicPr>
          <p:cNvPr id="6" name="label-pallet" descr="/home/user/physical-inv-app/docs/training/shots/en/label-pallet.png">    </p:cNvPr>
          <p:cNvPicPr>
            <a:picLocks noChangeAspect="1"/>
          </p:cNvPicPr>
          <p:nvPr/>
        </p:nvPicPr>
        <p:blipFill>
          <a:blip r:embed="rId2"/>
          <a:stretch>
            <a:fillRect/>
          </a:stretch>
        </p:blipFill>
        <p:spPr>
          <a:xfrm>
            <a:off x="548640" y="4526280"/>
            <a:ext cx="2834640" cy="1188720"/>
          </a:xfrm>
          <a:prstGeom prst="rect">
            <a:avLst/>
          </a:prstGeom>
        </p:spPr>
      </p:pic>
      <p:sp>
        <p:nvSpPr>
          <p:cNvPr id="7"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8"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A blind count: you count what is in front of you</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3 · Counting a pallet · Step 3</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3 · Count, then type the quantity</a:t>
            </a:r>
            <a:endParaRPr lang="en-US" sz="3200" dirty="0"/>
          </a:p>
        </p:txBody>
      </p:sp>
      <p:pic>
        <p:nvPicPr>
          <p:cNvPr id="4" name="screen quantity" descr="/home/user/physical-inv-app/docs/training/shots/en/07-quantity.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Count the cases that are </a:t>
            </a:r>
            <a:pPr algn="l" marL="228600" indent="-228600">
              <a:spcAft>
                <a:spcPts val="1000"/>
              </a:spcAft>
              <a:buSzPct val="100000"/>
              <a:buChar char="•"/>
            </a:pPr>
            <a:r>
              <a:rPr lang="en-US" sz="2200" b="1" dirty="0">
                <a:solidFill>
                  <a:schemeClr val="bg2"/>
                </a:solidFill>
              </a:rPr>
              <a:t>really there</a:t>
            </a:r>
            <a:pPr algn="l" marL="228600" indent="-228600">
              <a:spcAft>
                <a:spcPts val="1000"/>
              </a:spcAft>
              <a:buSzPct val="100000"/>
              <a:buChar char="•"/>
            </a:pPr>
            <a:r>
              <a:rPr lang="en-US" sz="2200" dirty="0">
                <a:solidFill>
                  <a:schemeClr val="bg2"/>
                </a:solidFill>
              </a:rPr>
              <a:t>.</a:t>
            </a:r>
            <a:endParaRPr lang="en-US" sz="2200" dirty="0"/>
          </a:p>
          <a:p>
            <a:pPr algn="l" marL="228600" indent="-228600">
              <a:spcAft>
                <a:spcPts val="1000"/>
              </a:spcAft>
              <a:buSzPct val="100000"/>
              <a:buChar char="•"/>
            </a:pPr>
            <a:r>
              <a:rPr lang="en-US" sz="2200" dirty="0">
                <a:solidFill>
                  <a:schemeClr val="bg2"/>
                </a:solidFill>
              </a:rPr>
              <a:t>Type the number on the number keys, then press Enter.</a:t>
            </a:r>
            <a:endParaRPr lang="en-US" sz="2200" dirty="0"/>
          </a:p>
          <a:p>
            <a:pPr algn="l" marL="228600" indent="-228600">
              <a:spcAft>
                <a:spcPts val="1000"/>
              </a:spcAft>
              <a:buSzPct val="100000"/>
              <a:buChar char="•"/>
            </a:pPr>
            <a:r>
              <a:rPr lang="en-US" sz="2200" b="1" dirty="0">
                <a:solidFill>
                  <a:schemeClr val="bg2"/>
                </a:solidFill>
              </a:rPr>
              <a:t>Never</a:t>
            </a:r>
            <a:pPr algn="l" marL="228600" indent="-228600">
              <a:spcAft>
                <a:spcPts val="1000"/>
              </a:spcAft>
              <a:buSzPct val="100000"/>
              <a:buChar char="•"/>
            </a:pPr>
            <a:r>
              <a:rPr lang="en-US" sz="2200" dirty="0">
                <a:solidFill>
                  <a:schemeClr val="bg2"/>
                </a:solidFill>
              </a:rPr>
              <a:t> type what you think it should be. A big number may need typing twice.</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3 · Counting a pallet · Step 4</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4 · A comment, if there is one</a:t>
            </a:r>
            <a:endParaRPr lang="en-US" sz="3200" dirty="0"/>
          </a:p>
        </p:txBody>
      </p:sp>
      <p:pic>
        <p:nvPicPr>
          <p:cNvPr id="4" name="screen comments" descr="/home/user/physical-inv-app/docs/training/shots/en/08-comments.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The scanner offers quick reasons — damaged, partial, and so on. Tap one if it fits.</a:t>
            </a:r>
            <a:endParaRPr lang="en-US" sz="2200" dirty="0"/>
          </a:p>
          <a:p>
            <a:pPr algn="l" marL="228600" indent="-228600">
              <a:spcAft>
                <a:spcPts val="1000"/>
              </a:spcAft>
              <a:buSzPct val="100000"/>
              <a:buChar char="•"/>
            </a:pPr>
            <a:r>
              <a:rPr lang="en-US" sz="2200" dirty="0">
                <a:solidFill>
                  <a:schemeClr val="bg2"/>
                </a:solidFill>
              </a:rPr>
              <a:t>Nothing to say? Tap </a:t>
            </a:r>
            <a:pPr algn="l" marL="228600" indent="-228600">
              <a:spcAft>
                <a:spcPts val="1000"/>
              </a:spcAft>
              <a:buSzPct val="100000"/>
              <a:buChar char="•"/>
            </a:pPr>
            <a:r>
              <a:rPr lang="en-US" sz="2200" b="1" dirty="0">
                <a:solidFill>
                  <a:schemeClr val="bg2"/>
                </a:solidFill>
              </a:rPr>
              <a:t>Skip</a:t>
            </a:r>
            <a:pPr algn="l" marL="228600" indent="-228600">
              <a:spcAft>
                <a:spcPts val="1000"/>
              </a:spcAft>
              <a:buSzPct val="100000"/>
              <a:buChar char="•"/>
            </a:pPr>
            <a:r>
              <a:rPr lang="en-US" sz="2200" dirty="0">
                <a:solidFill>
                  <a:schemeClr val="bg2"/>
                </a:solidFill>
              </a:rPr>
              <a:t>. On count day it also moves on by itself.</a:t>
            </a:r>
            <a:endParaRPr lang="en-US" sz="2200" dirty="0"/>
          </a:p>
          <a:p>
            <a:pPr algn="l" marL="228600" indent="-228600">
              <a:spcAft>
                <a:spcPts val="1000"/>
              </a:spcAft>
              <a:buSzPct val="100000"/>
              <a:buChar char="•"/>
            </a:pPr>
            <a:r>
              <a:rPr lang="en-US" sz="2200" dirty="0">
                <a:solidFill>
                  <a:schemeClr val="bg2"/>
                </a:solidFill>
              </a:rPr>
              <a:t>The pallet is saved. The scanner sends it to the office by itself.</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Saved — now the next pallet, the same three steps</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3 · Counting a pallet</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The wrong label? It tells you</a:t>
            </a:r>
            <a:endParaRPr lang="en-US" sz="3200" dirty="0"/>
          </a:p>
        </p:txBody>
      </p:sp>
      <p:pic>
        <p:nvPicPr>
          <p:cNvPr id="4" name="screen wrong-label" descr="/home/user/physical-inv-app/docs/training/shots/en/09-wrong-label.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If you scan the pallet label when it asks for the rack, the scanner says so and records nothing.</a:t>
            </a:r>
            <a:endParaRPr lang="en-US" sz="2200" dirty="0"/>
          </a:p>
          <a:p>
            <a:pPr algn="l" marL="228600" indent="-228600">
              <a:spcAft>
                <a:spcPts val="1000"/>
              </a:spcAft>
              <a:buSzPct val="100000"/>
              <a:buChar char="•"/>
            </a:pPr>
            <a:r>
              <a:rPr lang="en-US" sz="2200" dirty="0">
                <a:solidFill>
                  <a:schemeClr val="bg2"/>
                </a:solidFill>
              </a:rPr>
              <a:t>Just scan the right one.</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 4</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When a bin is different</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Several pallets in one spot, and an empty spot.</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4 · When a bin is different</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More than one pallet in a spot</a:t>
            </a:r>
            <a:endParaRPr lang="en-US" sz="3200" dirty="0"/>
          </a:p>
        </p:txBody>
      </p:sp>
      <p:pic>
        <p:nvPicPr>
          <p:cNvPr id="4" name="screen still-in-bin" descr="/home/user/physical-inv-app/docs/training/shots/en/10-still-in-bi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After the first pallet the box turns orange: </a:t>
            </a:r>
            <a:pPr algn="l" marL="228600" indent="-228600">
              <a:spcAft>
                <a:spcPts val="1000"/>
              </a:spcAft>
              <a:buSzPct val="100000"/>
              <a:buChar char="•"/>
            </a:pPr>
            <a:r>
              <a:rPr lang="en-US" sz="2200" b="1" dirty="0">
                <a:solidFill>
                  <a:schemeClr val="bg2"/>
                </a:solidFill>
              </a:rPr>
              <a:t>Still in this bin</a:t>
            </a:r>
            <a:pPr algn="l" marL="228600" indent="-228600">
              <a:spcAft>
                <a:spcPts val="1000"/>
              </a:spcAft>
              <a:buSzPct val="100000"/>
              <a:buChar char="•"/>
            </a:pPr>
            <a:r>
              <a:rPr lang="en-US" sz="2200" dirty="0">
                <a:solidFill>
                  <a:schemeClr val="bg2"/>
                </a:solidFill>
              </a:rPr>
              <a:t>, with a count — 1 of 3.</a:t>
            </a:r>
            <a:endParaRPr lang="en-US" sz="2200" dirty="0"/>
          </a:p>
          <a:p>
            <a:pPr algn="l" marL="228600" indent="-228600">
              <a:spcAft>
                <a:spcPts val="1000"/>
              </a:spcAft>
              <a:buSzPct val="100000"/>
              <a:buChar char="•"/>
            </a:pPr>
            <a:r>
              <a:rPr lang="en-US" sz="2200" dirty="0">
                <a:solidFill>
                  <a:schemeClr val="bg2"/>
                </a:solidFill>
              </a:rPr>
              <a:t>Count every pallet in the spot before you move on. Same three steps for each.</a:t>
            </a:r>
            <a:endParaRPr lang="en-US" sz="2200" dirty="0"/>
          </a:p>
          <a:p>
            <a:pPr algn="l" marL="228600" indent="-228600">
              <a:spcAft>
                <a:spcPts val="1000"/>
              </a:spcAft>
              <a:buSzPct val="100000"/>
              <a:buChar char="•"/>
            </a:pPr>
            <a:r>
              <a:rPr lang="en-US" sz="2200" dirty="0">
                <a:solidFill>
                  <a:schemeClr val="bg2"/>
                </a:solidFill>
              </a:rPr>
              <a:t>The scanner expects more but there are none? Tap </a:t>
            </a:r>
            <a:pPr algn="l" marL="228600" indent="-228600">
              <a:spcAft>
                <a:spcPts val="1000"/>
              </a:spcAft>
              <a:buSzPct val="100000"/>
              <a:buChar char="•"/>
            </a:pPr>
            <a:r>
              <a:rPr lang="en-US" sz="2200" b="1" dirty="0">
                <a:solidFill>
                  <a:schemeClr val="bg2"/>
                </a:solidFill>
              </a:rPr>
              <a:t>Nothing more here →</a:t>
            </a:r>
            <a:pPr algn="l" marL="228600" indent="-228600">
              <a:spcAft>
                <a:spcPts val="1000"/>
              </a:spcAft>
              <a:buSzPct val="100000"/>
              <a:buChar char="•"/>
            </a:pPr>
            <a:r>
              <a:rPr lang="en-US" sz="2200" dirty="0">
                <a:solidFill>
                  <a:schemeClr val="bg2"/>
                </a:solidFill>
              </a:rPr>
              <a:t>.</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Never leave a spot half counted</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4 · When a bin is different</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An empty spot</a:t>
            </a:r>
            <a:endParaRPr lang="en-US" sz="3200" dirty="0"/>
          </a:p>
        </p:txBody>
      </p:sp>
      <p:pic>
        <p:nvPicPr>
          <p:cNvPr id="4" name="screen empty-button" descr="/home/user/physical-inv-app/docs/training/shots/en/11-empty-butto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265176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Nothing in the spot? That counts too. Scan the rack label as usual.</a:t>
            </a:r>
            <a:endParaRPr lang="en-US" sz="2200" dirty="0"/>
          </a:p>
          <a:p>
            <a:pPr algn="l" marL="228600" indent="-228600">
              <a:spcAft>
                <a:spcPts val="1000"/>
              </a:spcAft>
              <a:buSzPct val="100000"/>
              <a:buChar char="•"/>
            </a:pPr>
            <a:r>
              <a:rPr lang="en-US" sz="2200" dirty="0">
                <a:solidFill>
                  <a:schemeClr val="bg2"/>
                </a:solidFill>
              </a:rPr>
              <a:t>Then tap </a:t>
            </a:r>
            <a:pPr algn="l" marL="228600" indent="-228600">
              <a:spcAft>
                <a:spcPts val="1000"/>
              </a:spcAft>
              <a:buSzPct val="100000"/>
              <a:buChar char="•"/>
            </a:pPr>
            <a:r>
              <a:rPr lang="en-US" sz="2200" b="1" dirty="0">
                <a:solidFill>
                  <a:schemeClr val="bg2"/>
                </a:solidFill>
              </a:rPr>
              <a:t>Bin is EMPTY</a:t>
            </a:r>
            <a:pPr algn="l" marL="228600" indent="-228600">
              <a:spcAft>
                <a:spcPts val="1000"/>
              </a:spcAft>
              <a:buSzPct val="100000"/>
              <a:buChar char="•"/>
            </a:pPr>
            <a:r>
              <a:rPr lang="en-US" sz="2200" dirty="0">
                <a:solidFill>
                  <a:schemeClr val="bg2"/>
                </a:solidFill>
              </a:rPr>
              <a:t>, and </a:t>
            </a:r>
            <a:pPr algn="l" marL="228600" indent="-228600">
              <a:spcAft>
                <a:spcPts val="1000"/>
              </a:spcAft>
              <a:buSzPct val="100000"/>
              <a:buChar char="•"/>
            </a:pPr>
            <a:r>
              <a:rPr lang="en-US" sz="2200" b="1" dirty="0">
                <a:solidFill>
                  <a:schemeClr val="bg2"/>
                </a:solidFill>
              </a:rPr>
              <a:t>Yes — it is empty</a:t>
            </a:r>
            <a:pPr algn="l" marL="228600" indent="-228600">
              <a:spcAft>
                <a:spcPts val="1000"/>
              </a:spcAft>
              <a:buSzPct val="100000"/>
              <a:buChar char="•"/>
            </a:pPr>
            <a:r>
              <a:rPr lang="en-US" sz="2200" dirty="0">
                <a:solidFill>
                  <a:schemeClr val="bg2"/>
                </a:solidFill>
              </a:rPr>
              <a:t>.</a:t>
            </a:r>
            <a:endParaRPr lang="en-US" sz="2200" dirty="0"/>
          </a:p>
          <a:p>
            <a:pPr algn="l" marL="228600" indent="-228600">
              <a:spcAft>
                <a:spcPts val="1000"/>
              </a:spcAft>
              <a:buSzPct val="100000"/>
              <a:buChar char="•"/>
            </a:pPr>
            <a:r>
              <a:rPr lang="en-US" sz="2200" dirty="0">
                <a:solidFill>
                  <a:schemeClr val="bg2"/>
                </a:solidFill>
              </a:rPr>
              <a:t>Now the office knows it was checked and is empty.</a:t>
            </a:r>
            <a:endParaRPr lang="en-US" sz="2200" dirty="0"/>
          </a:p>
        </p:txBody>
      </p:sp>
      <p:pic>
        <p:nvPicPr>
          <p:cNvPr id="6" name="label-rack" descr="/home/user/physical-inv-app/docs/training/shots/en/label-rack.png">    </p:cNvPr>
          <p:cNvPicPr>
            <a:picLocks noChangeAspect="1"/>
          </p:cNvPicPr>
          <p:nvPr/>
        </p:nvPicPr>
        <p:blipFill>
          <a:blip r:embed="rId2"/>
          <a:stretch>
            <a:fillRect/>
          </a:stretch>
        </p:blipFill>
        <p:spPr>
          <a:xfrm>
            <a:off x="548640" y="4526280"/>
            <a:ext cx="2834640" cy="1243584"/>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 5</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Labels</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Two labels on one pallet, a label that will not scan, and a pallet nobody expected.</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5 · Labels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A pallet with two labels</a:t>
            </a:r>
            <a:endParaRPr lang="en-US" sz="3200" dirty="0"/>
          </a:p>
        </p:txBody>
      </p:sp>
      <p:pic>
        <p:nvPicPr>
          <p:cNvPr id="4" name="screen multi-label-button" descr="/home/user/physical-inv-app/docs/training/shots/en/12-multi-label-button.png">    </p:cNvPr>
          <p:cNvPicPr>
            <a:picLocks noChangeAspect="1"/>
          </p:cNvPicPr>
          <p:nvPr/>
        </p:nvPicPr>
        <p:blipFill>
          <a:blip r:embed="rId1"/>
          <a:stretch>
            <a:fillRect/>
          </a:stretch>
        </p:blipFill>
        <p:spPr>
          <a:xfrm>
            <a:off x="2506847" y="2743200"/>
            <a:ext cx="2025992" cy="3566160"/>
          </a:xfrm>
          <a:prstGeom prst="rect">
            <a:avLst/>
          </a:prstGeom>
        </p:spPr>
      </p:pic>
      <p:pic>
        <p:nvPicPr>
          <p:cNvPr id="5" name="screen multi-label-2" descr="/home/user/physical-inv-app/docs/training/shots/en/13-multi-label-2.png">    </p:cNvPr>
          <p:cNvPicPr>
            <a:picLocks noChangeAspect="1"/>
          </p:cNvPicPr>
          <p:nvPr/>
        </p:nvPicPr>
        <p:blipFill>
          <a:blip r:embed="rId2"/>
          <a:stretch>
            <a:fillRect/>
          </a:stretch>
        </p:blipFill>
        <p:spPr>
          <a:xfrm>
            <a:off x="5081480" y="2743200"/>
            <a:ext cx="2025992" cy="3566160"/>
          </a:xfrm>
          <a:prstGeom prst="rect">
            <a:avLst/>
          </a:prstGeom>
        </p:spPr>
      </p:pic>
      <p:pic>
        <p:nvPicPr>
          <p:cNvPr id="6" name="screen multi-label-done" descr="/home/user/physical-inv-app/docs/training/shots/en/14-multi-label-done.png">    </p:cNvPr>
          <p:cNvPicPr>
            <a:picLocks noChangeAspect="1"/>
          </p:cNvPicPr>
          <p:nvPr/>
        </p:nvPicPr>
        <p:blipFill>
          <a:blip r:embed="rId3"/>
          <a:stretch>
            <a:fillRect/>
          </a:stretch>
        </p:blipFill>
        <p:spPr>
          <a:xfrm>
            <a:off x="7656112" y="2743200"/>
            <a:ext cx="2025992" cy="3566160"/>
          </a:xfrm>
          <a:prstGeom prst="rect">
            <a:avLst/>
          </a:prstGeom>
        </p:spPr>
      </p:pic>
      <p:sp>
        <p:nvSpPr>
          <p:cNvPr id="7" name="what to do"/>
          <p:cNvSpPr txBox="1"/>
          <p:nvPr/>
        </p:nvSpPr>
        <p:spPr>
          <a:xfrm>
            <a:off x="548640" y="1691640"/>
            <a:ext cx="11064240" cy="1005840"/>
          </a:xfrm>
          <a:prstGeom prst="rect">
            <a:avLst/>
          </a:prstGeom>
          <a:noFill/>
          <a:ln/>
        </p:spPr>
        <p:txBody>
          <a:bodyPr wrap="square" lIns="0" tIns="0" rIns="0" bIns="0" rtlCol="0" anchor="t"/>
          <a:lstStyle/>
          <a:p>
            <a:pPr algn="l" indent="0" marL="0">
              <a:spcAft>
                <a:spcPts val="1000"/>
              </a:spcAft>
              <a:buNone/>
            </a:pPr>
            <a:r>
              <a:rPr lang="en-US" sz="1800" dirty="0">
                <a:solidFill>
                  <a:schemeClr val="bg2"/>
                </a:solidFill>
              </a:rPr>
              <a:t>Scan the rack as usual · tap </a:t>
            </a:r>
            <a:pPr algn="l" indent="0" marL="0">
              <a:spcAft>
                <a:spcPts val="1000"/>
              </a:spcAft>
              <a:buNone/>
            </a:pPr>
            <a:r>
              <a:rPr lang="en-US" sz="1800" b="1" dirty="0">
                <a:solidFill>
                  <a:schemeClr val="bg2"/>
                </a:solidFill>
              </a:rPr>
              <a:t>This pallet has more than one label</a:t>
            </a:r>
            <a:pPr algn="l" indent="0" marL="0">
              <a:spcAft>
                <a:spcPts val="1000"/>
              </a:spcAft>
              <a:buNone/>
            </a:pPr>
            <a:r>
              <a:rPr lang="en-US" sz="1800" dirty="0">
                <a:solidFill>
                  <a:schemeClr val="bg2"/>
                </a:solidFill>
              </a:rPr>
              <a:t> · label 1 and its cases · label 2 and its cases · </a:t>
            </a:r>
            <a:pPr algn="l" indent="0" marL="0">
              <a:spcAft>
                <a:spcPts val="1000"/>
              </a:spcAft>
              <a:buNone/>
            </a:pPr>
            <a:r>
              <a:rPr lang="en-US" sz="1800" b="1" dirty="0">
                <a:solidFill>
                  <a:schemeClr val="bg2"/>
                </a:solidFill>
              </a:rPr>
              <a:t>Done</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5 · Labels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Saw the second label too late?</a:t>
            </a:r>
            <a:endParaRPr lang="en-US" sz="3200" dirty="0"/>
          </a:p>
        </p:txBody>
      </p:sp>
      <p:pic>
        <p:nvPicPr>
          <p:cNvPr id="4" name="screen same-label-button" descr="/home/user/physical-inv-app/docs/training/shots/en/15-same-label-butto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Already counted the pallet and then spotted another label?</a:t>
            </a:r>
            <a:endParaRPr lang="en-US" sz="2200" dirty="0"/>
          </a:p>
          <a:p>
            <a:pPr algn="l" marL="228600" indent="-228600">
              <a:spcAft>
                <a:spcPts val="1000"/>
              </a:spcAft>
              <a:buSzPct val="100000"/>
              <a:buChar char="•"/>
            </a:pPr>
            <a:r>
              <a:rPr lang="en-US" sz="2200" dirty="0">
                <a:solidFill>
                  <a:schemeClr val="bg2"/>
                </a:solidFill>
              </a:rPr>
              <a:t>Tap </a:t>
            </a:r>
            <a:pPr algn="l" marL="228600" indent="-228600">
              <a:spcAft>
                <a:spcPts val="1000"/>
              </a:spcAft>
              <a:buSzPct val="100000"/>
              <a:buChar char="•"/>
            </a:pPr>
            <a:r>
              <a:rPr lang="en-US" sz="2200" b="1" dirty="0">
                <a:solidFill>
                  <a:schemeClr val="bg2"/>
                </a:solidFill>
              </a:rPr>
              <a:t>Another label on the pallet just counted</a:t>
            </a:r>
            <a:pPr algn="l" marL="228600" indent="-228600">
              <a:spcAft>
                <a:spcPts val="1000"/>
              </a:spcAft>
              <a:buSzPct val="100000"/>
              <a:buChar char="•"/>
            </a:pPr>
            <a:r>
              <a:rPr lang="en-US" sz="2200" dirty="0">
                <a:solidFill>
                  <a:schemeClr val="bg2"/>
                </a:solidFill>
              </a:rPr>
              <a:t>.</a:t>
            </a:r>
            <a:endParaRPr lang="en-US" sz="2200" dirty="0"/>
          </a:p>
          <a:p>
            <a:pPr algn="l" marL="228600" indent="-228600">
              <a:spcAft>
                <a:spcPts val="1000"/>
              </a:spcAft>
              <a:buSzPct val="100000"/>
              <a:buChar char="•"/>
            </a:pPr>
            <a:r>
              <a:rPr lang="en-US" sz="2200" dirty="0">
                <a:solidFill>
                  <a:schemeClr val="bg2"/>
                </a:solidFill>
              </a:rPr>
              <a:t>Scan it, type its cases, then </a:t>
            </a:r>
            <a:pPr algn="l" marL="228600" indent="-228600">
              <a:spcAft>
                <a:spcPts val="1000"/>
              </a:spcAft>
              <a:buSzPct val="100000"/>
              <a:buChar char="•"/>
            </a:pPr>
            <a:r>
              <a:rPr lang="en-US" sz="2200" b="1" dirty="0">
                <a:solidFill>
                  <a:schemeClr val="bg2"/>
                </a:solidFill>
              </a:rPr>
              <a:t>Done</a:t>
            </a:r>
            <a:pPr algn="l" marL="228600" indent="-228600">
              <a:spcAft>
                <a:spcPts val="1000"/>
              </a:spcAft>
              <a:buSzPct val="100000"/>
              <a:buChar char="•"/>
            </a:pPr>
            <a:r>
              <a:rPr lang="en-US" sz="2200" dirty="0">
                <a:solidFill>
                  <a:schemeClr val="bg2"/>
                </a:solidFill>
              </a:rPr>
              <a:t>.</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5 · Labels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A label that will not scan</a:t>
            </a:r>
            <a:endParaRPr lang="en-US" sz="3200" dirty="0"/>
          </a:p>
        </p:txBody>
      </p:sp>
      <p:pic>
        <p:nvPicPr>
          <p:cNvPr id="4" name="screen no-scan" descr="/home/user/physical-inv-app/docs/training/shots/en/16-no-sca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Ice, a rip, a faded label. </a:t>
            </a:r>
            <a:pPr algn="l" marL="228600" indent="-228600">
              <a:spcAft>
                <a:spcPts val="1000"/>
              </a:spcAft>
              <a:buSzPct val="100000"/>
              <a:buChar char="•"/>
            </a:pPr>
            <a:r>
              <a:rPr lang="en-US" sz="2200" b="1" dirty="0">
                <a:solidFill>
                  <a:schemeClr val="bg2"/>
                </a:solidFill>
              </a:rPr>
              <a:t>Never skip the pallet.</a:t>
            </a:r>
            <a:endParaRPr lang="en-US" sz="2200" dirty="0"/>
          </a:p>
          <a:p>
            <a:pPr algn="l" marL="228600" indent="-228600">
              <a:spcAft>
                <a:spcPts val="1000"/>
              </a:spcAft>
              <a:buSzPct val="100000"/>
              <a:buChar char="•"/>
            </a:pPr>
            <a:r>
              <a:rPr lang="en-US" sz="2200" dirty="0">
                <a:solidFill>
                  <a:schemeClr val="bg2"/>
                </a:solidFill>
              </a:rPr>
              <a:t>Tap </a:t>
            </a:r>
            <a:pPr algn="l" marL="228600" indent="-228600">
              <a:spcAft>
                <a:spcPts val="1000"/>
              </a:spcAft>
              <a:buSzPct val="100000"/>
              <a:buChar char="•"/>
            </a:pPr>
            <a:r>
              <a:rPr lang="en-US" sz="2200" b="1" dirty="0">
                <a:solidFill>
                  <a:schemeClr val="bg2"/>
                </a:solidFill>
              </a:rPr>
              <a:t>Label will not scan</a:t>
            </a:r>
            <a:pPr algn="l" marL="228600" indent="-228600">
              <a:spcAft>
                <a:spcPts val="1000"/>
              </a:spcAft>
              <a:buSzPct val="100000"/>
              <a:buChar char="•"/>
            </a:pPr>
            <a:r>
              <a:rPr lang="en-US" sz="2200" dirty="0">
                <a:solidFill>
                  <a:schemeClr val="bg2"/>
                </a:solidFill>
              </a:rPr>
              <a:t>. Can you read the number? Tap </a:t>
            </a:r>
            <a:pPr algn="l" marL="228600" indent="-228600">
              <a:spcAft>
                <a:spcPts val="1000"/>
              </a:spcAft>
              <a:buSzPct val="100000"/>
              <a:buChar char="•"/>
            </a:pPr>
            <a:r>
              <a:rPr lang="en-US" sz="2200" b="1" dirty="0">
                <a:solidFill>
                  <a:schemeClr val="bg2"/>
                </a:solidFill>
              </a:rPr>
              <a:t>I can read it — let me type it</a:t>
            </a:r>
            <a:pPr algn="l" marL="228600" indent="-228600">
              <a:spcAft>
                <a:spcPts val="1000"/>
              </a:spcAft>
              <a:buSzPct val="100000"/>
              <a:buChar char="•"/>
            </a:pPr>
            <a:r>
              <a:rPr lang="en-US" sz="2200" dirty="0">
                <a:solidFill>
                  <a:schemeClr val="bg2"/>
                </a:solidFill>
              </a:rPr>
              <a:t> and type it.</a:t>
            </a:r>
            <a:endParaRPr lang="en-US" sz="2200" dirty="0"/>
          </a:p>
          <a:p>
            <a:pPr algn="l" marL="228600" indent="-228600">
              <a:spcAft>
                <a:spcPts val="1000"/>
              </a:spcAft>
              <a:buSzPct val="100000"/>
              <a:buChar char="•"/>
            </a:pPr>
            <a:r>
              <a:rPr lang="en-US" sz="2200" dirty="0">
                <a:solidFill>
                  <a:schemeClr val="bg2"/>
                </a:solidFill>
              </a:rPr>
              <a:t>The office gets a list of labels to replace. You keep counting.</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The pallet still gets counted</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5 · Labels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A pallet nobody expected</a:t>
            </a:r>
            <a:endParaRPr lang="en-US" sz="3200" dirty="0"/>
          </a:p>
        </p:txBody>
      </p:sp>
      <p:pic>
        <p:nvPicPr>
          <p:cNvPr id="4" name="screen not-on-list" descr="/home/user/physical-inv-app/docs/training/shots/en/17-not-on-list.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A pallet that is not on the list? The scanner asks </a:t>
            </a:r>
            <a:pPr algn="l" marL="228600" indent="-228600">
              <a:spcAft>
                <a:spcPts val="1000"/>
              </a:spcAft>
              <a:buSzPct val="100000"/>
              <a:buChar char="•"/>
            </a:pPr>
            <a:r>
              <a:rPr lang="en-US" sz="2200" b="1" dirty="0">
                <a:solidFill>
                  <a:schemeClr val="bg2"/>
                </a:solidFill>
              </a:rPr>
              <a:t>Count it anyway?</a:t>
            </a:r>
            <a:endParaRPr lang="en-US" sz="2200" dirty="0"/>
          </a:p>
          <a:p>
            <a:pPr algn="l" marL="228600" indent="-228600">
              <a:spcAft>
                <a:spcPts val="1000"/>
              </a:spcAft>
              <a:buSzPct val="100000"/>
              <a:buChar char="•"/>
            </a:pPr>
            <a:r>
              <a:rPr lang="en-US" sz="2200" dirty="0">
                <a:solidFill>
                  <a:schemeClr val="bg2"/>
                </a:solidFill>
              </a:rPr>
              <a:t>Tap </a:t>
            </a:r>
            <a:pPr algn="l" marL="228600" indent="-228600">
              <a:spcAft>
                <a:spcPts val="1000"/>
              </a:spcAft>
              <a:buSzPct val="100000"/>
              <a:buChar char="•"/>
            </a:pPr>
            <a:r>
              <a:rPr lang="en-US" sz="2200" b="1" dirty="0">
                <a:solidFill>
                  <a:schemeClr val="bg2"/>
                </a:solidFill>
              </a:rPr>
              <a:t>YES</a:t>
            </a:r>
            <a:pPr algn="l" marL="228600" indent="-228600">
              <a:spcAft>
                <a:spcPts val="1000"/>
              </a:spcAft>
              <a:buSzPct val="100000"/>
              <a:buChar char="•"/>
            </a:pPr>
            <a:r>
              <a:rPr lang="en-US" sz="2200" dirty="0">
                <a:solidFill>
                  <a:schemeClr val="bg2"/>
                </a:solidFill>
              </a:rPr>
              <a:t> and count it like any other. Wrong barcode? Tap </a:t>
            </a:r>
            <a:pPr algn="l" marL="228600" indent="-228600">
              <a:spcAft>
                <a:spcPts val="1000"/>
              </a:spcAft>
              <a:buSzPct val="100000"/>
              <a:buChar char="•"/>
            </a:pPr>
            <a:r>
              <a:rPr lang="en-US" sz="2200" b="1" dirty="0">
                <a:solidFill>
                  <a:schemeClr val="bg2"/>
                </a:solidFill>
              </a:rPr>
              <a:t>NO</a:t>
            </a:r>
            <a:pPr algn="l" marL="228600" indent="-228600">
              <a:spcAft>
                <a:spcPts val="1000"/>
              </a:spcAft>
              <a:buSzPct val="100000"/>
              <a:buChar char="•"/>
            </a:pPr>
            <a:r>
              <a:rPr lang="en-US" sz="2200" dirty="0">
                <a:solidFill>
                  <a:schemeClr val="bg2"/>
                </a:solidFill>
              </a:rPr>
              <a:t>.</a:t>
            </a:r>
            <a:endParaRPr lang="en-US" sz="2200" dirty="0"/>
          </a:p>
          <a:p>
            <a:pPr algn="l" marL="228600" indent="-228600">
              <a:spcAft>
                <a:spcPts val="1000"/>
              </a:spcAft>
              <a:buSzPct val="100000"/>
              <a:buChar char="•"/>
            </a:pPr>
            <a:r>
              <a:rPr lang="en-US" sz="2200" dirty="0">
                <a:solidFill>
                  <a:schemeClr val="bg2"/>
                </a:solidFill>
              </a:rPr>
              <a:t>If the scanner ever asks </a:t>
            </a:r>
            <a:pPr algn="l" marL="228600" indent="-228600">
              <a:spcAft>
                <a:spcPts val="1000"/>
              </a:spcAft>
              <a:buSzPct val="100000"/>
              <a:buChar char="•"/>
            </a:pPr>
            <a:r>
              <a:rPr lang="en-US" sz="2200" b="1" dirty="0">
                <a:solidFill>
                  <a:schemeClr val="bg2"/>
                </a:solidFill>
              </a:rPr>
              <a:t>why</a:t>
            </a:r>
            <a:pPr algn="l" marL="228600" indent="-228600">
              <a:spcAft>
                <a:spcPts val="1000"/>
              </a:spcAft>
              <a:buSzPct val="100000"/>
              <a:buChar char="•"/>
            </a:pPr>
            <a:r>
              <a:rPr lang="en-US" sz="2200" dirty="0">
                <a:solidFill>
                  <a:schemeClr val="bg2"/>
                </a:solidFill>
              </a:rPr>
              <a:t>, pick a reason and tap </a:t>
            </a:r>
            <a:pPr algn="l" marL="228600" indent="-228600">
              <a:spcAft>
                <a:spcPts val="1000"/>
              </a:spcAft>
              <a:buSzPct val="100000"/>
              <a:buChar char="•"/>
            </a:pPr>
            <a:r>
              <a:rPr lang="en-US" sz="2200" b="1" dirty="0">
                <a:solidFill>
                  <a:schemeClr val="bg2"/>
                </a:solidFill>
              </a:rPr>
              <a:t>Accept and continue</a:t>
            </a:r>
            <a:pPr algn="l" marL="228600" indent="-228600">
              <a:spcAft>
                <a:spcPts val="1000"/>
              </a:spcAft>
              <a:buSzPct val="100000"/>
              <a:buChar char="•"/>
            </a:pPr>
            <a:r>
              <a:rPr lang="en-US" sz="2200" dirty="0">
                <a:solidFill>
                  <a:schemeClr val="bg2"/>
                </a:solidFill>
              </a:rPr>
              <a:t>.</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Not sure? Ask your lead</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 6</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Help and fixes</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Mistakes, messages, no Wi-Fi, problems, and the SOS button.</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6 · Help and fixes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Made a mistake?</a:t>
            </a:r>
            <a:endParaRPr lang="en-US" sz="3200" dirty="0"/>
          </a:p>
        </p:txBody>
      </p:sp>
      <p:pic>
        <p:nvPicPr>
          <p:cNvPr id="4" name="screen history" descr="/home/user/physical-inv-app/docs/training/shots/en/18-history.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Before finishing the pallet: </a:t>
            </a:r>
            <a:pPr algn="l" marL="228600" indent="-228600">
              <a:spcAft>
                <a:spcPts val="1000"/>
              </a:spcAft>
              <a:buSzPct val="100000"/>
              <a:buChar char="•"/>
            </a:pPr>
            <a:r>
              <a:rPr lang="en-US" sz="2200" b="1" dirty="0">
                <a:solidFill>
                  <a:schemeClr val="bg2"/>
                </a:solidFill>
              </a:rPr>
              <a:t>Back</a:t>
            </a:r>
            <a:pPr algn="l" marL="228600" indent="-228600">
              <a:spcAft>
                <a:spcPts val="1000"/>
              </a:spcAft>
              <a:buSzPct val="100000"/>
              <a:buChar char="•"/>
            </a:pPr>
            <a:r>
              <a:rPr lang="en-US" sz="2200" dirty="0">
                <a:solidFill>
                  <a:schemeClr val="bg2"/>
                </a:solidFill>
              </a:rPr>
              <a:t> goes back one step.</a:t>
            </a:r>
            <a:endParaRPr lang="en-US" sz="2200" dirty="0"/>
          </a:p>
          <a:p>
            <a:pPr algn="l" marL="228600" indent="-228600">
              <a:spcAft>
                <a:spcPts val="1000"/>
              </a:spcAft>
              <a:buSzPct val="100000"/>
              <a:buChar char="•"/>
            </a:pPr>
            <a:r>
              <a:rPr lang="en-US" sz="2200" dirty="0">
                <a:solidFill>
                  <a:schemeClr val="bg2"/>
                </a:solidFill>
              </a:rPr>
              <a:t>Already saved: tap </a:t>
            </a:r>
            <a:pPr algn="l" marL="228600" indent="-228600">
              <a:spcAft>
                <a:spcPts val="1000"/>
              </a:spcAft>
              <a:buSzPct val="100000"/>
              <a:buChar char="•"/>
            </a:pPr>
            <a:r>
              <a:rPr lang="en-US" sz="2200" b="1" dirty="0">
                <a:solidFill>
                  <a:schemeClr val="bg2"/>
                </a:solidFill>
              </a:rPr>
              <a:t>History</a:t>
            </a:r>
            <a:pPr algn="l" marL="228600" indent="-228600">
              <a:spcAft>
                <a:spcPts val="1000"/>
              </a:spcAft>
              <a:buSzPct val="100000"/>
              <a:buChar char="•"/>
            </a:pPr>
            <a:r>
              <a:rPr lang="en-US" sz="2200" dirty="0">
                <a:solidFill>
                  <a:schemeClr val="bg2"/>
                </a:solidFill>
              </a:rPr>
              <a:t> — your last 50 lines. </a:t>
            </a:r>
            <a:pPr algn="l" marL="228600" indent="-228600">
              <a:spcAft>
                <a:spcPts val="1000"/>
              </a:spcAft>
              <a:buSzPct val="100000"/>
              <a:buChar char="•"/>
            </a:pPr>
            <a:r>
              <a:rPr lang="en-US" sz="2200" b="1" dirty="0">
                <a:solidFill>
                  <a:schemeClr val="bg2"/>
                </a:solidFill>
              </a:rPr>
              <a:t>Void this line</a:t>
            </a:r>
            <a:pPr algn="l" marL="228600" indent="-228600">
              <a:spcAft>
                <a:spcPts val="1000"/>
              </a:spcAft>
              <a:buSzPct val="100000"/>
              <a:buChar char="•"/>
            </a:pPr>
            <a:r>
              <a:rPr lang="en-US" sz="2200" dirty="0">
                <a:solidFill>
                  <a:schemeClr val="bg2"/>
                </a:solidFill>
              </a:rPr>
              <a:t> takes a wrong one out.</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6 · Help and fixes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A message from the office</a:t>
            </a:r>
            <a:endParaRPr lang="en-US" sz="3200" dirty="0"/>
          </a:p>
        </p:txBody>
      </p:sp>
      <p:pic>
        <p:nvPicPr>
          <p:cNvPr id="4" name="screen message" descr="/home/user/physical-inv-app/docs/training/shots/en/19-message.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Your lead can send a message to your scanner. It buzzes and stays on the screen.</a:t>
            </a:r>
            <a:endParaRPr lang="en-US" sz="2200" dirty="0"/>
          </a:p>
          <a:p>
            <a:pPr algn="l" marL="228600" indent="-228600">
              <a:spcAft>
                <a:spcPts val="1000"/>
              </a:spcAft>
              <a:buSzPct val="100000"/>
              <a:buChar char="•"/>
            </a:pPr>
            <a:r>
              <a:rPr lang="en-US" sz="2200" dirty="0">
                <a:solidFill>
                  <a:schemeClr val="bg2"/>
                </a:solidFill>
              </a:rPr>
              <a:t>Read it, then tap </a:t>
            </a:r>
            <a:pPr algn="l" marL="228600" indent="-228600">
              <a:spcAft>
                <a:spcPts val="1000"/>
              </a:spcAft>
              <a:buSzPct val="100000"/>
              <a:buChar char="•"/>
            </a:pPr>
            <a:r>
              <a:rPr lang="en-US" sz="2200" b="1" dirty="0">
                <a:solidFill>
                  <a:schemeClr val="bg2"/>
                </a:solidFill>
              </a:rPr>
              <a:t>Got it</a:t>
            </a:r>
            <a:pPr algn="l" marL="228600" indent="-228600">
              <a:spcAft>
                <a:spcPts val="1000"/>
              </a:spcAft>
              <a:buSzPct val="100000"/>
              <a:buChar char="•"/>
            </a:pPr>
            <a:r>
              <a:rPr lang="en-US" sz="2200" dirty="0">
                <a:solidFill>
                  <a:schemeClr val="bg2"/>
                </a:solidFill>
              </a:rPr>
              <a:t> — the office sees that you read it.</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6 · Help and fixes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No Wi-Fi? Keep counting</a:t>
            </a:r>
            <a:endParaRPr lang="en-US" sz="3200" dirty="0"/>
          </a:p>
        </p:txBody>
      </p:sp>
      <p:pic>
        <p:nvPicPr>
          <p:cNvPr id="4" name="screen offline" descr="/home/user/physical-inv-app/docs/training/shots/en/20-offline.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In the freezer the Wi-Fi can drop. The top of the screen says </a:t>
            </a:r>
            <a:pPr algn="l" marL="228600" indent="-228600">
              <a:spcAft>
                <a:spcPts val="1000"/>
              </a:spcAft>
              <a:buSzPct val="100000"/>
              <a:buChar char="•"/>
            </a:pPr>
            <a:r>
              <a:rPr lang="en-US" sz="2200" b="1" dirty="0">
                <a:solidFill>
                  <a:schemeClr val="bg2"/>
                </a:solidFill>
              </a:rPr>
              <a:t>OFFLINE</a:t>
            </a:r>
            <a:pPr algn="l" marL="228600" indent="-228600">
              <a:spcAft>
                <a:spcPts val="1000"/>
              </a:spcAft>
              <a:buSzPct val="100000"/>
              <a:buChar char="•"/>
            </a:pPr>
            <a:r>
              <a:rPr lang="en-US" sz="2200" dirty="0">
                <a:solidFill>
                  <a:schemeClr val="bg2"/>
                </a:solidFill>
              </a:rPr>
              <a:t>.</a:t>
            </a:r>
            <a:endParaRPr lang="en-US" sz="2200" dirty="0"/>
          </a:p>
          <a:p>
            <a:pPr algn="l" marL="228600" indent="-228600">
              <a:spcAft>
                <a:spcPts val="1000"/>
              </a:spcAft>
              <a:buSzPct val="100000"/>
              <a:buChar char="•"/>
            </a:pPr>
            <a:r>
              <a:rPr lang="en-US" sz="2200" b="1" dirty="0">
                <a:solidFill>
                  <a:schemeClr val="bg2"/>
                </a:solidFill>
              </a:rPr>
              <a:t>Keep counting.</a:t>
            </a:r>
            <a:pPr algn="l" marL="228600" indent="-228600">
              <a:spcAft>
                <a:spcPts val="1000"/>
              </a:spcAft>
              <a:buSzPct val="100000"/>
              <a:buChar char="•"/>
            </a:pPr>
            <a:r>
              <a:rPr lang="en-US" sz="2200" dirty="0">
                <a:solidFill>
                  <a:schemeClr val="bg2"/>
                </a:solidFill>
              </a:rPr>
              <a:t> Everything is saved on the scanner.</a:t>
            </a:r>
            <a:endParaRPr lang="en-US" sz="2200" dirty="0"/>
          </a:p>
          <a:p>
            <a:pPr algn="l" marL="228600" indent="-228600">
              <a:spcAft>
                <a:spcPts val="1000"/>
              </a:spcAft>
              <a:buSzPct val="100000"/>
              <a:buChar char="•"/>
            </a:pPr>
            <a:r>
              <a:rPr lang="en-US" sz="2200" dirty="0">
                <a:solidFill>
                  <a:schemeClr val="bg2"/>
                </a:solidFill>
              </a:rPr>
              <a:t>When the signal is back, the lines go to the office on their own. Nothing to type again.</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Nothing is lost</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6 · Help and fixes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Something wrong with the spot</a:t>
            </a:r>
            <a:endParaRPr lang="en-US" sz="3200" dirty="0"/>
          </a:p>
        </p:txBody>
      </p:sp>
      <p:pic>
        <p:nvPicPr>
          <p:cNvPr id="4" name="screen report-problem" descr="/home/user/physical-inv-app/docs/training/shots/en/21-report-problem.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Damaged pallet, broken rack, a spot blocked by a truck?</a:t>
            </a:r>
            <a:endParaRPr lang="en-US" sz="2200" dirty="0"/>
          </a:p>
          <a:p>
            <a:pPr algn="l" marL="228600" indent="-228600">
              <a:spcAft>
                <a:spcPts val="1000"/>
              </a:spcAft>
              <a:buSzPct val="100000"/>
              <a:buChar char="•"/>
            </a:pPr>
            <a:r>
              <a:rPr lang="en-US" sz="2200" dirty="0">
                <a:solidFill>
                  <a:schemeClr val="bg2"/>
                </a:solidFill>
              </a:rPr>
              <a:t>Tap </a:t>
            </a:r>
            <a:pPr algn="l" marL="228600" indent="-228600">
              <a:spcAft>
                <a:spcPts val="1000"/>
              </a:spcAft>
              <a:buSzPct val="100000"/>
              <a:buChar char="•"/>
            </a:pPr>
            <a:r>
              <a:rPr lang="en-US" sz="2200" b="1" dirty="0">
                <a:solidFill>
                  <a:schemeClr val="bg2"/>
                </a:solidFill>
              </a:rPr>
              <a:t>Report a problem</a:t>
            </a:r>
            <a:pPr algn="l" marL="228600" indent="-228600">
              <a:spcAft>
                <a:spcPts val="1000"/>
              </a:spcAft>
              <a:buSzPct val="100000"/>
              <a:buChar char="•"/>
            </a:pPr>
            <a:r>
              <a:rPr lang="en-US" sz="2200" dirty="0">
                <a:solidFill>
                  <a:schemeClr val="bg2"/>
                </a:solidFill>
              </a:rPr>
              <a:t>, pick what it is, and scan to confirm.</a:t>
            </a:r>
            <a:endParaRPr lang="en-US" sz="2200" dirty="0"/>
          </a:p>
          <a:p>
            <a:pPr algn="l" marL="228600" indent="-228600">
              <a:spcAft>
                <a:spcPts val="1000"/>
              </a:spcAft>
              <a:buSzPct val="100000"/>
              <a:buChar char="•"/>
            </a:pPr>
            <a:r>
              <a:rPr lang="en-US" sz="2200" dirty="0">
                <a:solidFill>
                  <a:schemeClr val="bg2"/>
                </a:solidFill>
              </a:rPr>
              <a:t>It goes on the office’s fix list. It is </a:t>
            </a:r>
            <a:pPr algn="l" marL="228600" indent="-228600">
              <a:spcAft>
                <a:spcPts val="1000"/>
              </a:spcAft>
              <a:buSzPct val="100000"/>
              <a:buChar char="•"/>
            </a:pPr>
            <a:r>
              <a:rPr lang="en-US" sz="2200" b="1" dirty="0">
                <a:solidFill>
                  <a:schemeClr val="bg2"/>
                </a:solidFill>
              </a:rPr>
              <a:t>not</a:t>
            </a:r>
            <a:pPr algn="l" marL="228600" indent="-228600">
              <a:spcAft>
                <a:spcPts val="1000"/>
              </a:spcAft>
              <a:buSzPct val="100000"/>
              <a:buChar char="•"/>
            </a:pPr>
            <a:r>
              <a:rPr lang="en-US" sz="2200" dirty="0">
                <a:solidFill>
                  <a:schemeClr val="bg2"/>
                </a:solidFill>
              </a:rPr>
              <a:t> an emergency.</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6 · Help and fixes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SOS — when you need help now</a:t>
            </a:r>
            <a:endParaRPr lang="en-US" sz="3200" dirty="0"/>
          </a:p>
        </p:txBody>
      </p:sp>
      <p:pic>
        <p:nvPicPr>
          <p:cNvPr id="4" name="screen sos-list" descr="/home/user/physical-inv-app/docs/training/shots/en/22-sos-list.png">    </p:cNvPr>
          <p:cNvPicPr>
            <a:picLocks noChangeAspect="1"/>
          </p:cNvPicPr>
          <p:nvPr/>
        </p:nvPicPr>
        <p:blipFill>
          <a:blip r:embed="rId1"/>
          <a:stretch>
            <a:fillRect/>
          </a:stretch>
        </p:blipFill>
        <p:spPr>
          <a:xfrm>
            <a:off x="5819560" y="1143000"/>
            <a:ext cx="2805220" cy="4937760"/>
          </a:xfrm>
          <a:prstGeom prst="rect">
            <a:avLst/>
          </a:prstGeom>
        </p:spPr>
      </p:pic>
      <p:pic>
        <p:nvPicPr>
          <p:cNvPr id="5" name="screen sos-seen" descr="/home/user/physical-inv-app/docs/training/shots/en/23-sos-seen.png">    </p:cNvPr>
          <p:cNvPicPr>
            <a:picLocks noChangeAspect="1"/>
          </p:cNvPicPr>
          <p:nvPr/>
        </p:nvPicPr>
        <p:blipFill>
          <a:blip r:embed="rId2"/>
          <a:stretch>
            <a:fillRect/>
          </a:stretch>
        </p:blipFill>
        <p:spPr>
          <a:xfrm>
            <a:off x="8853380" y="1143000"/>
            <a:ext cx="2805220" cy="4937760"/>
          </a:xfrm>
          <a:prstGeom prst="rect">
            <a:avLst/>
          </a:prstGeom>
        </p:spPr>
      </p:pic>
      <p:sp>
        <p:nvSpPr>
          <p:cNvPr id="6" name="what to do"/>
          <p:cNvSpPr txBox="1"/>
          <p:nvPr/>
        </p:nvSpPr>
        <p:spPr>
          <a:xfrm>
            <a:off x="548640" y="1691640"/>
            <a:ext cx="4905160"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Hurt, stuck, equipment broken, or you need a supervisor.</a:t>
            </a:r>
            <a:endParaRPr lang="en-US" sz="2200" dirty="0"/>
          </a:p>
          <a:p>
            <a:pPr algn="l" marL="228600" indent="-228600">
              <a:spcAft>
                <a:spcPts val="1000"/>
              </a:spcAft>
              <a:buSzPct val="100000"/>
              <a:buChar char="•"/>
            </a:pPr>
            <a:r>
              <a:rPr lang="en-US" sz="2200" dirty="0">
                <a:solidFill>
                  <a:schemeClr val="bg2"/>
                </a:solidFill>
              </a:rPr>
              <a:t>Tap the red </a:t>
            </a:r>
            <a:pPr algn="l" marL="228600" indent="-228600">
              <a:spcAft>
                <a:spcPts val="1000"/>
              </a:spcAft>
              <a:buSzPct val="100000"/>
              <a:buChar char="•"/>
            </a:pPr>
            <a:r>
              <a:rPr lang="en-US" sz="2200" b="1" dirty="0">
                <a:solidFill>
                  <a:schemeClr val="bg2"/>
                </a:solidFill>
              </a:rPr>
              <a:t>SOS — I need help</a:t>
            </a:r>
            <a:pPr algn="l" marL="228600" indent="-228600">
              <a:spcAft>
                <a:spcPts val="1000"/>
              </a:spcAft>
              <a:buSzPct val="100000"/>
              <a:buChar char="•"/>
            </a:pPr>
            <a:r>
              <a:rPr lang="en-US" sz="2200" dirty="0">
                <a:solidFill>
                  <a:schemeClr val="bg2"/>
                </a:solidFill>
              </a:rPr>
              <a:t> and pick what is wrong.</a:t>
            </a:r>
            <a:endParaRPr lang="en-US" sz="2200" dirty="0"/>
          </a:p>
          <a:p>
            <a:pPr algn="l" marL="228600" indent="-228600">
              <a:spcAft>
                <a:spcPts val="1000"/>
              </a:spcAft>
              <a:buSzPct val="100000"/>
              <a:buChar char="•"/>
            </a:pPr>
            <a:r>
              <a:rPr lang="en-US" sz="2200" dirty="0">
                <a:solidFill>
                  <a:schemeClr val="bg2"/>
                </a:solidFill>
              </a:rPr>
              <a:t>The office sees your team, your aisle and your last spot right away. When a supervisor picks it up, your scanner says who has seen it.</a:t>
            </a:r>
            <a:endParaRPr lang="en-US" sz="2200" dirty="0"/>
          </a:p>
        </p:txBody>
      </p:sp>
      <p:sp>
        <p:nvSpPr>
          <p:cNvPr id="7" name="tip box"/>
          <p:cNvSpPr/>
          <p:nvPr/>
        </p:nvSpPr>
        <p:spPr>
          <a:xfrm>
            <a:off x="548640" y="5715000"/>
            <a:ext cx="4905160" cy="502920"/>
          </a:xfrm>
          <a:prstGeom prst="roundRect">
            <a:avLst>
              <a:gd name="adj" fmla="val 21818"/>
            </a:avLst>
          </a:prstGeom>
          <a:solidFill>
            <a:srgbClr val="18293F"/>
          </a:solidFill>
          <a:ln w="12700">
            <a:solidFill>
              <a:srgbClr val="FFC20E"/>
            </a:solidFill>
            <a:prstDash val="solid"/>
          </a:ln>
        </p:spPr>
      </p:sp>
      <p:sp>
        <p:nvSpPr>
          <p:cNvPr id="8" name="tip"/>
          <p:cNvSpPr txBox="1"/>
          <p:nvPr/>
        </p:nvSpPr>
        <p:spPr>
          <a:xfrm>
            <a:off x="713232" y="5715000"/>
            <a:ext cx="4630840" cy="502920"/>
          </a:xfrm>
          <a:prstGeom prst="rect">
            <a:avLst/>
          </a:prstGeom>
          <a:noFill/>
          <a:ln/>
        </p:spPr>
        <p:txBody>
          <a:bodyPr wrap="square" lIns="0" tIns="0" rIns="0" bIns="0" rtlCol="0" anchor="ctr"/>
          <a:lstStyle/>
          <a:p>
            <a:pPr indent="0" marL="0">
              <a:buNone/>
            </a:pPr>
            <a:r>
              <a:rPr lang="en-US" sz="1600" b="1" dirty="0">
                <a:solidFill>
                  <a:schemeClr val="accent1"/>
                </a:solidFill>
              </a:rPr>
              <a:t>No signal? It says it was NOT sent — go and find someone</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 7</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Second counts, and finishing</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Counting a spot again, handing the aisle back, and signing off.</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7 · Second counts, and finishing</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Second counts</a:t>
            </a:r>
            <a:endParaRPr lang="en-US" sz="3200" dirty="0"/>
          </a:p>
        </p:txBody>
      </p:sp>
      <p:pic>
        <p:nvPicPr>
          <p:cNvPr id="4" name="screen second-counts-offered" descr="/home/user/physical-inv-app/docs/training/shots/en/24-second-counts-offered.png">    </p:cNvPr>
          <p:cNvPicPr>
            <a:picLocks noChangeAspect="1"/>
          </p:cNvPicPr>
          <p:nvPr/>
        </p:nvPicPr>
        <p:blipFill>
          <a:blip r:embed="rId1"/>
          <a:stretch>
            <a:fillRect/>
          </a:stretch>
        </p:blipFill>
        <p:spPr>
          <a:xfrm>
            <a:off x="5819560" y="1143000"/>
            <a:ext cx="2805220" cy="4937760"/>
          </a:xfrm>
          <a:prstGeom prst="rect">
            <a:avLst/>
          </a:prstGeom>
        </p:spPr>
      </p:pic>
      <p:pic>
        <p:nvPicPr>
          <p:cNvPr id="5" name="screen second-count" descr="/home/user/physical-inv-app/docs/training/shots/en/25-second-count.png">    </p:cNvPr>
          <p:cNvPicPr>
            <a:picLocks noChangeAspect="1"/>
          </p:cNvPicPr>
          <p:nvPr/>
        </p:nvPicPr>
        <p:blipFill>
          <a:blip r:embed="rId2"/>
          <a:stretch>
            <a:fillRect/>
          </a:stretch>
        </p:blipFill>
        <p:spPr>
          <a:xfrm>
            <a:off x="8853380" y="1143000"/>
            <a:ext cx="2805220" cy="4937760"/>
          </a:xfrm>
          <a:prstGeom prst="rect">
            <a:avLst/>
          </a:prstGeom>
        </p:spPr>
      </p:pic>
      <p:sp>
        <p:nvSpPr>
          <p:cNvPr id="6" name="what to do"/>
          <p:cNvSpPr txBox="1"/>
          <p:nvPr/>
        </p:nvSpPr>
        <p:spPr>
          <a:xfrm>
            <a:off x="548640" y="1691640"/>
            <a:ext cx="4905160"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Sometimes the office needs a spot counted again, by a different team.</a:t>
            </a:r>
            <a:endParaRPr lang="en-US" sz="2200" dirty="0"/>
          </a:p>
          <a:p>
            <a:pPr algn="l" marL="228600" indent="-228600">
              <a:spcAft>
                <a:spcPts val="1000"/>
              </a:spcAft>
              <a:buSzPct val="100000"/>
              <a:buChar char="•"/>
            </a:pPr>
            <a:r>
              <a:rPr lang="en-US" sz="2200" dirty="0">
                <a:solidFill>
                  <a:schemeClr val="bg2"/>
                </a:solidFill>
              </a:rPr>
              <a:t>When there are some for you, </a:t>
            </a:r>
            <a:pPr algn="l" marL="228600" indent="-228600">
              <a:spcAft>
                <a:spcPts val="1000"/>
              </a:spcAft>
              <a:buSzPct val="100000"/>
              <a:buChar char="•"/>
            </a:pPr>
            <a:r>
              <a:rPr lang="en-US" sz="2200" b="1" dirty="0">
                <a:solidFill>
                  <a:schemeClr val="bg2"/>
                </a:solidFill>
              </a:rPr>
              <a:t>My aisle</a:t>
            </a:r>
            <a:pPr algn="l" marL="228600" indent="-228600">
              <a:spcAft>
                <a:spcPts val="1000"/>
              </a:spcAft>
              <a:buSzPct val="100000"/>
              <a:buChar char="•"/>
            </a:pPr>
            <a:r>
              <a:rPr lang="en-US" sz="2200" dirty="0">
                <a:solidFill>
                  <a:schemeClr val="bg2"/>
                </a:solidFill>
              </a:rPr>
              <a:t> shows </a:t>
            </a:r>
            <a:pPr algn="l" marL="228600" indent="-228600">
              <a:spcAft>
                <a:spcPts val="1000"/>
              </a:spcAft>
              <a:buSzPct val="100000"/>
              <a:buChar char="•"/>
            </a:pPr>
            <a:r>
              <a:rPr lang="en-US" sz="2200" b="1" dirty="0">
                <a:solidFill>
                  <a:schemeClr val="bg2"/>
                </a:solidFill>
              </a:rPr>
              <a:t>Start second counts</a:t>
            </a:r>
            <a:pPr algn="l" marL="228600" indent="-228600">
              <a:spcAft>
                <a:spcPts val="1000"/>
              </a:spcAft>
              <a:buSzPct val="100000"/>
              <a:buChar char="•"/>
            </a:pPr>
            <a:r>
              <a:rPr lang="en-US" sz="2200" dirty="0">
                <a:solidFill>
                  <a:schemeClr val="bg2"/>
                </a:solidFill>
              </a:rPr>
              <a:t>.</a:t>
            </a:r>
            <a:endParaRPr lang="en-US" sz="2200" dirty="0"/>
          </a:p>
          <a:p>
            <a:pPr algn="l" marL="228600" indent="-228600">
              <a:spcAft>
                <a:spcPts val="1000"/>
              </a:spcAft>
              <a:buSzPct val="100000"/>
              <a:buChar char="•"/>
            </a:pPr>
            <a:r>
              <a:rPr lang="en-US" sz="2200" dirty="0">
                <a:solidFill>
                  <a:schemeClr val="bg2"/>
                </a:solidFill>
              </a:rPr>
              <a:t>Go to the spot and count everything in it — rack, pallet, quantity. Then tap </a:t>
            </a:r>
            <a:pPr algn="l" marL="228600" indent="-228600">
              <a:spcAft>
                <a:spcPts val="1000"/>
              </a:spcAft>
              <a:buSzPct val="100000"/>
              <a:buChar char="•"/>
            </a:pPr>
            <a:r>
              <a:rPr lang="en-US" sz="2200" b="1" dirty="0">
                <a:solidFill>
                  <a:schemeClr val="bg2"/>
                </a:solidFill>
              </a:rPr>
              <a:t>Bin done — nothing more here</a:t>
            </a:r>
            <a:pPr algn="l" marL="228600" indent="-228600">
              <a:spcAft>
                <a:spcPts val="1000"/>
              </a:spcAft>
              <a:buSzPct val="100000"/>
              <a:buChar char="•"/>
            </a:pPr>
            <a:r>
              <a:rPr lang="en-US" sz="2200" dirty="0">
                <a:solidFill>
                  <a:schemeClr val="bg2"/>
                </a:solidFill>
              </a:rPr>
              <a:t>.</a:t>
            </a:r>
            <a:endParaRPr lang="en-US" sz="2200" dirty="0"/>
          </a:p>
        </p:txBody>
      </p:sp>
      <p:sp>
        <p:nvSpPr>
          <p:cNvPr id="7" name="tip box"/>
          <p:cNvSpPr/>
          <p:nvPr/>
        </p:nvSpPr>
        <p:spPr>
          <a:xfrm>
            <a:off x="548640" y="5715000"/>
            <a:ext cx="4905160" cy="502920"/>
          </a:xfrm>
          <a:prstGeom prst="roundRect">
            <a:avLst>
              <a:gd name="adj" fmla="val 21818"/>
            </a:avLst>
          </a:prstGeom>
          <a:solidFill>
            <a:srgbClr val="18293F"/>
          </a:solidFill>
          <a:ln w="12700">
            <a:solidFill>
              <a:srgbClr val="FFC20E"/>
            </a:solidFill>
            <a:prstDash val="solid"/>
          </a:ln>
        </p:spPr>
      </p:sp>
      <p:sp>
        <p:nvSpPr>
          <p:cNvPr id="8" name="tip"/>
          <p:cNvSpPr txBox="1"/>
          <p:nvPr/>
        </p:nvSpPr>
        <p:spPr>
          <a:xfrm>
            <a:off x="713232" y="5715000"/>
            <a:ext cx="4630840" cy="502920"/>
          </a:xfrm>
          <a:prstGeom prst="rect">
            <a:avLst/>
          </a:prstGeom>
          <a:noFill/>
          <a:ln/>
        </p:spPr>
        <p:txBody>
          <a:bodyPr wrap="square" lIns="0" tIns="0" rIns="0" bIns="0" rtlCol="0" anchor="ctr"/>
          <a:lstStyle/>
          <a:p>
            <a:pPr indent="0" marL="0">
              <a:buNone/>
            </a:pPr>
            <a:r>
              <a:rPr lang="en-US" sz="1600" b="1" dirty="0">
                <a:solidFill>
                  <a:schemeClr val="accent1"/>
                </a:solidFill>
              </a:rPr>
              <a:t>You are not told the first count</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7 · Second counts, and finishing</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Finishing the aisle, and signing off</a:t>
            </a:r>
            <a:endParaRPr lang="en-US" sz="3200" dirty="0"/>
          </a:p>
        </p:txBody>
      </p:sp>
      <p:pic>
        <p:nvPicPr>
          <p:cNvPr id="4" name="screen aisle-complete" descr="/home/user/physical-inv-app/docs/training/shots/en/26-aisle-complete.png">    </p:cNvPr>
          <p:cNvPicPr>
            <a:picLocks noChangeAspect="1"/>
          </p:cNvPicPr>
          <p:nvPr/>
        </p:nvPicPr>
        <p:blipFill>
          <a:blip r:embed="rId1"/>
          <a:stretch>
            <a:fillRect/>
          </a:stretch>
        </p:blipFill>
        <p:spPr>
          <a:xfrm>
            <a:off x="5819560" y="1143000"/>
            <a:ext cx="2805220" cy="4937760"/>
          </a:xfrm>
          <a:prstGeom prst="rect">
            <a:avLst/>
          </a:prstGeom>
        </p:spPr>
      </p:pic>
      <p:pic>
        <p:nvPicPr>
          <p:cNvPr id="5" name="screen next-aisle" descr="/home/user/physical-inv-app/docs/training/shots/en/27-next-aisle.png">    </p:cNvPr>
          <p:cNvPicPr>
            <a:picLocks noChangeAspect="1"/>
          </p:cNvPicPr>
          <p:nvPr/>
        </p:nvPicPr>
        <p:blipFill>
          <a:blip r:embed="rId2"/>
          <a:stretch>
            <a:fillRect/>
          </a:stretch>
        </p:blipFill>
        <p:spPr>
          <a:xfrm>
            <a:off x="8853380" y="1143000"/>
            <a:ext cx="2805220" cy="4937760"/>
          </a:xfrm>
          <a:prstGeom prst="rect">
            <a:avLst/>
          </a:prstGeom>
        </p:spPr>
      </p:pic>
      <p:sp>
        <p:nvSpPr>
          <p:cNvPr id="6" name="what to do"/>
          <p:cNvSpPr txBox="1"/>
          <p:nvPr/>
        </p:nvSpPr>
        <p:spPr>
          <a:xfrm>
            <a:off x="548640" y="1691640"/>
            <a:ext cx="4905160"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Only when every spot on your levels is counted: open </a:t>
            </a:r>
            <a:pPr algn="l" marL="228600" indent="-228600">
              <a:spcAft>
                <a:spcPts val="1000"/>
              </a:spcAft>
              <a:buSzPct val="100000"/>
              <a:buChar char="•"/>
            </a:pPr>
            <a:r>
              <a:rPr lang="en-US" sz="2200" b="1" dirty="0">
                <a:solidFill>
                  <a:schemeClr val="bg2"/>
                </a:solidFill>
              </a:rPr>
              <a:t>My aisle</a:t>
            </a:r>
            <a:pPr algn="l" marL="228600" indent="-228600">
              <a:spcAft>
                <a:spcPts val="1000"/>
              </a:spcAft>
              <a:buSzPct val="100000"/>
              <a:buChar char="•"/>
            </a:pPr>
            <a:r>
              <a:rPr lang="en-US" sz="2200" dirty="0">
                <a:solidFill>
                  <a:schemeClr val="bg2"/>
                </a:solidFill>
              </a:rPr>
              <a:t> and tap </a:t>
            </a:r>
            <a:pPr algn="l" marL="228600" indent="-228600">
              <a:spcAft>
                <a:spcPts val="1000"/>
              </a:spcAft>
              <a:buSzPct val="100000"/>
              <a:buChar char="•"/>
            </a:pPr>
            <a:r>
              <a:rPr lang="en-US" sz="2200" b="1" dirty="0">
                <a:solidFill>
                  <a:schemeClr val="bg2"/>
                </a:solidFill>
              </a:rPr>
              <a:t>Aisle complete — next aisle</a:t>
            </a:r>
            <a:pPr algn="l" marL="228600" indent="-228600">
              <a:spcAft>
                <a:spcPts val="1000"/>
              </a:spcAft>
              <a:buSzPct val="100000"/>
              <a:buChar char="•"/>
            </a:pPr>
            <a:r>
              <a:rPr lang="en-US" sz="2200" dirty="0">
                <a:solidFill>
                  <a:schemeClr val="bg2"/>
                </a:solidFill>
              </a:rPr>
              <a:t>. The scanner gives you the next one.</a:t>
            </a:r>
            <a:endParaRPr lang="en-US" sz="2200" dirty="0"/>
          </a:p>
          <a:p>
            <a:pPr algn="l" marL="228600" indent="-228600">
              <a:spcAft>
                <a:spcPts val="1000"/>
              </a:spcAft>
              <a:buSzPct val="100000"/>
              <a:buChar char="•"/>
            </a:pPr>
            <a:r>
              <a:rPr lang="en-US" sz="2200" dirty="0">
                <a:solidFill>
                  <a:schemeClr val="bg2"/>
                </a:solidFill>
              </a:rPr>
              <a:t>Break or home? Tap </a:t>
            </a:r>
            <a:pPr algn="l" marL="228600" indent="-228600">
              <a:spcAft>
                <a:spcPts val="1000"/>
              </a:spcAft>
              <a:buSzPct val="100000"/>
              <a:buChar char="•"/>
            </a:pPr>
            <a:r>
              <a:rPr lang="en-US" sz="2200" b="1" dirty="0">
                <a:solidFill>
                  <a:schemeClr val="bg2"/>
                </a:solidFill>
              </a:rPr>
              <a:t>Sign off this scanner</a:t>
            </a:r>
            <a:pPr algn="l" marL="228600" indent="-228600">
              <a:spcAft>
                <a:spcPts val="1000"/>
              </a:spcAft>
              <a:buSzPct val="100000"/>
              <a:buChar char="•"/>
            </a:pPr>
            <a:r>
              <a:rPr lang="en-US" sz="2200" dirty="0">
                <a:solidFill>
                  <a:schemeClr val="bg2"/>
                </a:solidFill>
              </a:rPr>
              <a:t> and put the scanner on its charger.</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The rules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The five rules</a:t>
            </a:r>
            <a:endParaRPr lang="en-US" sz="3200" dirty="0"/>
          </a:p>
        </p:txBody>
      </p:sp>
      <p:pic>
        <p:nvPicPr>
          <p:cNvPr id="4" name="screen next-bin" descr="/home/user/physical-inv-app/docs/training/shots/en/04-next-bi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indent="0" marL="0">
              <a:spcAft>
                <a:spcPts val="1400"/>
              </a:spcAft>
              <a:buNone/>
            </a:pPr>
            <a:r>
              <a:rPr lang="en-US" sz="2200" b="1" dirty="0">
                <a:solidFill>
                  <a:schemeClr val="bg2"/>
                </a:solidFill>
              </a:rPr>
              <a:t>Count what is really there.</a:t>
            </a:r>
            <a:pPr algn="l" indent="0" marL="0">
              <a:spcAft>
                <a:spcPts val="1400"/>
              </a:spcAft>
              <a:buNone/>
            </a:pPr>
            <a:r>
              <a:rPr lang="en-US" sz="2200" dirty="0">
                <a:solidFill>
                  <a:schemeClr val="bg2"/>
                </a:solidFill>
              </a:rPr>
              <a:t> Never what it should be.</a:t>
            </a:r>
            <a:endParaRPr lang="en-US" sz="2200" dirty="0"/>
          </a:p>
          <a:p>
            <a:pPr algn="l" indent="0" marL="0">
              <a:spcAft>
                <a:spcPts val="1400"/>
              </a:spcAft>
              <a:buNone/>
            </a:pPr>
            <a:r>
              <a:rPr lang="en-US" sz="2200" b="1" dirty="0">
                <a:solidFill>
                  <a:schemeClr val="bg2"/>
                </a:solidFill>
              </a:rPr>
              <a:t>Never skip a pallet.</a:t>
            </a:r>
            <a:pPr algn="l" indent="0" marL="0">
              <a:spcAft>
                <a:spcPts val="1400"/>
              </a:spcAft>
              <a:buNone/>
            </a:pPr>
            <a:r>
              <a:rPr lang="en-US" sz="2200" dirty="0">
                <a:solidFill>
                  <a:schemeClr val="bg2"/>
                </a:solidFill>
              </a:rPr>
              <a:t> No label? Label will not scan.</a:t>
            </a:r>
            <a:endParaRPr lang="en-US" sz="2200" dirty="0"/>
          </a:p>
          <a:p>
            <a:pPr algn="l" indent="0" marL="0">
              <a:spcAft>
                <a:spcPts val="1400"/>
              </a:spcAft>
              <a:buNone/>
            </a:pPr>
            <a:r>
              <a:rPr lang="en-US" sz="2200" b="1" dirty="0">
                <a:solidFill>
                  <a:schemeClr val="bg2"/>
                </a:solidFill>
              </a:rPr>
              <a:t>Follow Next bin.</a:t>
            </a:r>
            <a:pPr algn="l" indent="0" marL="0">
              <a:spcAft>
                <a:spcPts val="1400"/>
              </a:spcAft>
              <a:buNone/>
            </a:pPr>
            <a:r>
              <a:rPr lang="en-US" sz="2200" dirty="0">
                <a:solidFill>
                  <a:schemeClr val="bg2"/>
                </a:solidFill>
              </a:rPr>
              <a:t> Every spot, in order, empty ones too.</a:t>
            </a:r>
            <a:endParaRPr lang="en-US" sz="2200" dirty="0"/>
          </a:p>
          <a:p>
            <a:pPr algn="l" indent="0" marL="0">
              <a:spcAft>
                <a:spcPts val="1400"/>
              </a:spcAft>
              <a:buNone/>
            </a:pPr>
            <a:r>
              <a:rPr lang="en-US" sz="2200" b="1" dirty="0">
                <a:solidFill>
                  <a:schemeClr val="bg2"/>
                </a:solidFill>
              </a:rPr>
              <a:t>No Wi-Fi? Keep counting.</a:t>
            </a:r>
            <a:endParaRPr lang="en-US" sz="2200" dirty="0"/>
          </a:p>
          <a:p>
            <a:pPr algn="l" indent="0" marL="0">
              <a:spcAft>
                <a:spcPts val="1400"/>
              </a:spcAft>
              <a:buNone/>
            </a:pPr>
            <a:r>
              <a:rPr lang="en-US" sz="2200" b="1" dirty="0">
                <a:solidFill>
                  <a:schemeClr val="bg2"/>
                </a:solidFill>
              </a:rPr>
              <a:t>Not sure? Ask your lead.</a:t>
            </a:r>
            <a:pPr algn="l" indent="0" marL="0">
              <a:spcAft>
                <a:spcPts val="1400"/>
              </a:spcAft>
              <a:buNone/>
            </a:pPr>
            <a:r>
              <a:rPr lang="en-US" sz="2200" dirty="0">
                <a:solidFill>
                  <a:schemeClr val="bg2"/>
                </a:solidFill>
              </a:rPr>
              <a:t> Help now? SOS.</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The rules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The buttons, on one page</a:t>
            </a:r>
            <a:endParaRPr lang="en-US" sz="3200" dirty="0"/>
          </a:p>
        </p:txBody>
      </p:sp>
      <p:graphicFrame>
        <p:nvGraphicFramePr>
          <p:cNvPr id="34" name="the buttons"/>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4206240"/>
                <a:gridCol w="6858000"/>
              </a:tblGrid>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Bin is EMPTY</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Nothing in the spot: after the rack, tap it, then Yes</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Nothing more here →</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The scanner expects more pallets, there are none</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This pallet has more than one label</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After the rack: each label with its cases, then Done</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Another label on the pallet just counted</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A second label seen after saving</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Label will not scan</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Type what is printed, or count it without a label</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Back / Keyboard</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One step back / type by hand</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History → Void this line</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Take a wrong line out</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Report a problem</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Damage or a blocked spot. Not an emergency</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SOS — I need help</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An emergency. The office comes</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Aisle complete — next aisle</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Only when the whole aisle is counted</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Start second counts</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Spots to count again, on My aisle</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Sign off this scanner</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Break or end of shift. Charger</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10515600" cy="457200"/>
          </a:xfrm>
          <a:prstGeom prst="rect">
            <a:avLst/>
          </a:prstGeom>
          <a:noFill/>
          <a:ln/>
        </p:spPr>
        <p:txBody>
          <a:bodyPr wrap="square" lIns="0" tIns="0" rIns="0" bIns="0" rtlCol="0"/>
          <a:lstStyle/>
          <a:p>
            <a:pPr indent="0" marL="0">
              <a:buNone/>
            </a:pPr>
            <a:r>
              <a:rPr lang="en-US" sz="1600" b="1" spc="400" kern="0" dirty="0">
                <a:solidFill>
                  <a:schemeClr val="accent1"/>
                </a:solidFill>
              </a:rPr>
              <a:t>That is the job</a:t>
            </a:r>
            <a:endParaRPr lang="en-US" sz="1600" dirty="0"/>
          </a:p>
        </p:txBody>
      </p:sp>
      <p:sp>
        <p:nvSpPr>
          <p:cNvPr id="3" name="Text 0"/>
          <p:cNvSpPr/>
          <p:nvPr>
            <p:ph idx="101" type="title" hasCustomPrompt="1"/>
          </p:nvPr>
        </p:nvSpPr>
        <p:spPr>
          <a:xfrm>
            <a:off x="822960" y="2286000"/>
            <a:ext cx="10515600" cy="1645920"/>
          </a:xfrm>
          <a:prstGeom prst="rect">
            <a:avLst/>
          </a:prstGeom>
          <a:noFill/>
          <a:ln/>
        </p:spPr>
        <p:txBody>
          <a:bodyPr wrap="square" lIns="0" tIns="0" rIns="0" bIns="0" rtlCol="0" anchor="t"/>
          <a:lstStyle/>
          <a:p>
            <a:pPr algn="l" indent="0" marL="0">
              <a:buNone/>
            </a:pPr>
            <a:r>
              <a:rPr lang="en-US" sz="5400" b="1" dirty="0">
                <a:solidFill>
                  <a:schemeClr val="bg1"/>
                </a:solidFill>
              </a:rPr>
              <a:t>Rack · Pallet · Quantity</a:t>
            </a:r>
            <a:endParaRPr lang="en-US" sz="5400" dirty="0"/>
          </a:p>
        </p:txBody>
      </p:sp>
      <p:sp>
        <p:nvSpPr>
          <p:cNvPr id="4" name="Text 0"/>
          <p:cNvSpPr/>
          <p:nvPr>
            <p:ph idx="102" type="body" hasCustomPrompt="1"/>
          </p:nvPr>
        </p:nvSpPr>
        <p:spPr>
          <a:xfrm>
            <a:off x="822960" y="4114800"/>
            <a:ext cx="9601200" cy="1463040"/>
          </a:xfrm>
          <a:prstGeom prst="rect">
            <a:avLst/>
          </a:prstGeom>
          <a:noFill/>
          <a:ln/>
        </p:spPr>
        <p:txBody>
          <a:bodyPr wrap="square" lIns="0" tIns="0" rIns="0" bIns="0" rtlCol="0" anchor="t"/>
          <a:lstStyle/>
          <a:p>
            <a:pPr indent="0" marL="0">
              <a:buNone/>
            </a:pPr>
            <a:r>
              <a:rPr lang="en-US" sz="2400" dirty="0">
                <a:solidFill>
                  <a:schemeClr val="bg2"/>
                </a:solidFill>
              </a:rPr>
              <a:t>Count what is really there. Never skip a pallet.</a:t>
            </a:r>
            <a:endParaRPr lang="en-US" sz="2400" dirty="0"/>
          </a:p>
          <a:p>
            <a:pPr indent="0" marL="0">
              <a:buNone/>
            </a:pPr>
            <a:r>
              <a:rPr lang="en-US" sz="2400" dirty="0">
                <a:solidFill>
                  <a:schemeClr val="bg2"/>
                </a:solidFill>
              </a:rPr>
              <a:t>Not sure? Ask your lead — or press SOS if you need help now.</a:t>
            </a:r>
            <a:endParaRPr lang="en-US" sz="2400" dirty="0"/>
          </a:p>
        </p:txBody>
      </p:sp>
    </p:spTree>
  </p:cSld>
  <p:clrMapOvr>
    <a:masterClrMapping/>
  </p:clrMapOvr>
</p:sld>
</file>

<file path=ppt/theme/theme1.xml><?xml version="1.0" encoding="utf-8"?>
<a:theme xmlns:a="http://schemas.openxmlformats.org/drawingml/2006/main" name="Full Harvest crew">
  <a:themeElements>
    <a:clrScheme name="Full Harvest crew">
      <a:dk1>
        <a:srgbClr val="0A1018"/>
      </a:dk1>
      <a:lt1>
        <a:srgbClr val="FFFFFF"/>
      </a:lt1>
      <a:dk2>
        <a:srgbClr val="18293F"/>
      </a:dk2>
      <a:lt2>
        <a:srgbClr val="D8E3EF"/>
      </a:lt2>
      <a:accent1>
        <a:srgbClr val="FFC20E"/>
      </a:accent1>
      <a:accent2>
        <a:srgbClr val="3FCF68"/>
      </a:accent2>
      <a:accent3>
        <a:srgbClr val="FF5A5F"/>
      </a:accent3>
      <a:accent4>
        <a:srgbClr val="4C9DFF"/>
      </a:accent4>
      <a:accent5>
        <a:srgbClr val="8FA2B8"/>
      </a:accent5>
      <a:accent6>
        <a:srgbClr val="B98A52"/>
      </a:accent6>
      <a:hlink>
        <a:srgbClr val="FFC20E"/>
      </a:hlink>
      <a:folHlink>
        <a:srgbClr val="B98A52"/>
      </a:folHlink>
    </a:clrScheme>
    <a:fontScheme name="Full Harvest cre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count with the scanner</dc:title>
  <dc:subject>PptxGenJS Presentation</dc:subject>
  <dc:creator>Full Harvest Inventory</dc:creator>
  <cp:lastModifiedBy>Full Harvest Inventory</cp:lastModifiedBy>
  <cp:revision>1</cp:revision>
  <dcterms:created xsi:type="dcterms:W3CDTF">2026-10-20T22:18:54Z</dcterms:created>
  <dcterms:modified xsi:type="dcterms:W3CDTF">2026-10-20T22:18:54Z</dcterms:modified>
</cp:coreProperties>
</file>